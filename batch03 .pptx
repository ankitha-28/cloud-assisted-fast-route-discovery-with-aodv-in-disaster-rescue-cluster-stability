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779" r:id="rId2"/>
    <p:sldId id="789" r:id="rId3"/>
    <p:sldId id="810" r:id="rId4"/>
    <p:sldId id="799" r:id="rId5"/>
    <p:sldId id="780" r:id="rId6"/>
    <p:sldId id="781" r:id="rId7"/>
    <p:sldId id="792" r:id="rId8"/>
    <p:sldId id="785" r:id="rId9"/>
    <p:sldId id="814" r:id="rId10"/>
    <p:sldId id="800" r:id="rId11"/>
    <p:sldId id="801" r:id="rId12"/>
    <p:sldId id="794" r:id="rId13"/>
    <p:sldId id="802" r:id="rId14"/>
    <p:sldId id="803" r:id="rId15"/>
    <p:sldId id="804" r:id="rId16"/>
    <p:sldId id="806" r:id="rId17"/>
    <p:sldId id="805" r:id="rId18"/>
    <p:sldId id="807" r:id="rId19"/>
    <p:sldId id="808" r:id="rId20"/>
    <p:sldId id="809" r:id="rId21"/>
    <p:sldId id="811" r:id="rId22"/>
    <p:sldId id="812" r:id="rId23"/>
    <p:sldId id="813" r:id="rId24"/>
    <p:sldId id="793" r:id="rId25"/>
    <p:sldId id="78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DCDD44-5D86-47B9-8536-D263E50DF5DF}" v="15" dt="2026-03-23T12:10:50.1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8" d="100"/>
          <a:sy n="78" d="100"/>
        </p:scale>
        <p:origin x="878"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ryala Ankitha" userId="bc610c0ade34dc45" providerId="LiveId" clId="{C3270B32-111A-428E-9B73-33C7360D6697}"/>
    <pc:docChg chg="custSel addSld modSld">
      <pc:chgData name="Miryala Ankitha" userId="bc610c0ade34dc45" providerId="LiveId" clId="{C3270B32-111A-428E-9B73-33C7360D6697}" dt="2026-03-23T12:16:39.191" v="238" actId="14100"/>
      <pc:docMkLst>
        <pc:docMk/>
      </pc:docMkLst>
      <pc:sldChg chg="modSp mod">
        <pc:chgData name="Miryala Ankitha" userId="bc610c0ade34dc45" providerId="LiveId" clId="{C3270B32-111A-428E-9B73-33C7360D6697}" dt="2026-03-23T12:14:30.161" v="225" actId="14100"/>
        <pc:sldMkLst>
          <pc:docMk/>
          <pc:sldMk cId="737780489" sldId="779"/>
        </pc:sldMkLst>
        <pc:spChg chg="mod">
          <ac:chgData name="Miryala Ankitha" userId="bc610c0ade34dc45" providerId="LiveId" clId="{C3270B32-111A-428E-9B73-33C7360D6697}" dt="2026-03-23T12:14:30.161" v="225" actId="14100"/>
          <ac:spMkLst>
            <pc:docMk/>
            <pc:sldMk cId="737780489" sldId="779"/>
            <ac:spMk id="12" creationId="{34171B3D-41F2-4B45-860B-5E3607A31D49}"/>
          </ac:spMkLst>
        </pc:spChg>
      </pc:sldChg>
      <pc:sldChg chg="modSp mod">
        <pc:chgData name="Miryala Ankitha" userId="bc610c0ade34dc45" providerId="LiveId" clId="{C3270B32-111A-428E-9B73-33C7360D6697}" dt="2026-03-23T12:16:39.191" v="238" actId="14100"/>
        <pc:sldMkLst>
          <pc:docMk/>
          <pc:sldMk cId="1287536411" sldId="780"/>
        </pc:sldMkLst>
        <pc:spChg chg="mod">
          <ac:chgData name="Miryala Ankitha" userId="bc610c0ade34dc45" providerId="LiveId" clId="{C3270B32-111A-428E-9B73-33C7360D6697}" dt="2026-03-23T12:16:39.191" v="238" actId="14100"/>
          <ac:spMkLst>
            <pc:docMk/>
            <pc:sldMk cId="1287536411" sldId="780"/>
            <ac:spMk id="6" creationId="{953E6E58-92B6-AE64-11B1-11F45C9658F4}"/>
          </ac:spMkLst>
        </pc:spChg>
      </pc:sldChg>
      <pc:sldChg chg="modSp mod">
        <pc:chgData name="Miryala Ankitha" userId="bc610c0ade34dc45" providerId="LiveId" clId="{C3270B32-111A-428E-9B73-33C7360D6697}" dt="2026-03-23T12:07:43.044" v="198" actId="14100"/>
        <pc:sldMkLst>
          <pc:docMk/>
          <pc:sldMk cId="2374401625" sldId="785"/>
        </pc:sldMkLst>
        <pc:spChg chg="mod">
          <ac:chgData name="Miryala Ankitha" userId="bc610c0ade34dc45" providerId="LiveId" clId="{C3270B32-111A-428E-9B73-33C7360D6697}" dt="2026-03-23T12:04:07.362" v="171" actId="122"/>
          <ac:spMkLst>
            <pc:docMk/>
            <pc:sldMk cId="2374401625" sldId="785"/>
            <ac:spMk id="2" creationId="{0FE76D2E-3A19-4D6C-8ADD-F94385C56703}"/>
          </ac:spMkLst>
        </pc:spChg>
        <pc:spChg chg="mod">
          <ac:chgData name="Miryala Ankitha" userId="bc610c0ade34dc45" providerId="LiveId" clId="{C3270B32-111A-428E-9B73-33C7360D6697}" dt="2026-03-23T12:07:43.044" v="198" actId="14100"/>
          <ac:spMkLst>
            <pc:docMk/>
            <pc:sldMk cId="2374401625" sldId="785"/>
            <ac:spMk id="7" creationId="{2CE2C495-DA42-D8AD-0512-7F961342FF0E}"/>
          </ac:spMkLst>
        </pc:spChg>
      </pc:sldChg>
      <pc:sldChg chg="addSp delSp modSp mod">
        <pc:chgData name="Miryala Ankitha" userId="bc610c0ade34dc45" providerId="LiveId" clId="{C3270B32-111A-428E-9B73-33C7360D6697}" dt="2026-03-23T11:42:55.795" v="85" actId="1076"/>
        <pc:sldMkLst>
          <pc:docMk/>
          <pc:sldMk cId="4069467416" sldId="811"/>
        </pc:sldMkLst>
        <pc:spChg chg="add del mod">
          <ac:chgData name="Miryala Ankitha" userId="bc610c0ade34dc45" providerId="LiveId" clId="{C3270B32-111A-428E-9B73-33C7360D6697}" dt="2026-03-23T11:32:11.278" v="4"/>
          <ac:spMkLst>
            <pc:docMk/>
            <pc:sldMk cId="4069467416" sldId="811"/>
            <ac:spMk id="4" creationId="{315367ED-46A4-15D0-D96F-91A15BFEE499}"/>
          </ac:spMkLst>
        </pc:spChg>
        <pc:spChg chg="add del mod">
          <ac:chgData name="Miryala Ankitha" userId="bc610c0ade34dc45" providerId="LiveId" clId="{C3270B32-111A-428E-9B73-33C7360D6697}" dt="2026-03-23T11:33:17.500" v="12" actId="478"/>
          <ac:spMkLst>
            <pc:docMk/>
            <pc:sldMk cId="4069467416" sldId="811"/>
            <ac:spMk id="5" creationId="{03487AFE-9811-A164-427F-A216B2FC6521}"/>
          </ac:spMkLst>
        </pc:spChg>
        <pc:spChg chg="add mod">
          <ac:chgData name="Miryala Ankitha" userId="bc610c0ade34dc45" providerId="LiveId" clId="{C3270B32-111A-428E-9B73-33C7360D6697}" dt="2026-03-23T11:42:55.795" v="85" actId="1076"/>
          <ac:spMkLst>
            <pc:docMk/>
            <pc:sldMk cId="4069467416" sldId="811"/>
            <ac:spMk id="6" creationId="{F8FCF700-C998-62E6-C600-8D3FD6001B4F}"/>
          </ac:spMkLst>
        </pc:spChg>
        <pc:spChg chg="add del mod">
          <ac:chgData name="Miryala Ankitha" userId="bc610c0ade34dc45" providerId="LiveId" clId="{C3270B32-111A-428E-9B73-33C7360D6697}" dt="2026-03-23T11:37:10.656" v="54"/>
          <ac:spMkLst>
            <pc:docMk/>
            <pc:sldMk cId="4069467416" sldId="811"/>
            <ac:spMk id="7" creationId="{B763A479-8DD6-7509-668C-7A2E6EE76A72}"/>
          </ac:spMkLst>
        </pc:spChg>
        <pc:spChg chg="add del mod">
          <ac:chgData name="Miryala Ankitha" userId="bc610c0ade34dc45" providerId="LiveId" clId="{C3270B32-111A-428E-9B73-33C7360D6697}" dt="2026-03-23T11:37:10.628" v="52" actId="21"/>
          <ac:spMkLst>
            <pc:docMk/>
            <pc:sldMk cId="4069467416" sldId="811"/>
            <ac:spMk id="8" creationId="{A382CA5C-654A-C6F9-E7E9-9DF00B74FB34}"/>
          </ac:spMkLst>
        </pc:spChg>
        <pc:spChg chg="add mod">
          <ac:chgData name="Miryala Ankitha" userId="bc610c0ade34dc45" providerId="LiveId" clId="{C3270B32-111A-428E-9B73-33C7360D6697}" dt="2026-03-23T11:42:30.885" v="82" actId="1076"/>
          <ac:spMkLst>
            <pc:docMk/>
            <pc:sldMk cId="4069467416" sldId="811"/>
            <ac:spMk id="9" creationId="{AD78C977-82CA-5DA6-3214-69BC7139E5E0}"/>
          </ac:spMkLst>
        </pc:spChg>
      </pc:sldChg>
      <pc:sldChg chg="addSp modSp new mod">
        <pc:chgData name="Miryala Ankitha" userId="bc610c0ade34dc45" providerId="LiveId" clId="{C3270B32-111A-428E-9B73-33C7360D6697}" dt="2026-03-23T12:10:10.072" v="205" actId="20577"/>
        <pc:sldMkLst>
          <pc:docMk/>
          <pc:sldMk cId="2662567908" sldId="812"/>
        </pc:sldMkLst>
        <pc:spChg chg="add mod">
          <ac:chgData name="Miryala Ankitha" userId="bc610c0ade34dc45" providerId="LiveId" clId="{C3270B32-111A-428E-9B73-33C7360D6697}" dt="2026-03-23T12:10:10.072" v="205" actId="20577"/>
          <ac:spMkLst>
            <pc:docMk/>
            <pc:sldMk cId="2662567908" sldId="812"/>
            <ac:spMk id="4" creationId="{83CCFAD3-A156-608D-DBFB-C5E26077D57C}"/>
          </ac:spMkLst>
        </pc:spChg>
        <pc:spChg chg="add mod">
          <ac:chgData name="Miryala Ankitha" userId="bc610c0ade34dc45" providerId="LiveId" clId="{C3270B32-111A-428E-9B73-33C7360D6697}" dt="2026-03-23T11:57:26.686" v="133" actId="1076"/>
          <ac:spMkLst>
            <pc:docMk/>
            <pc:sldMk cId="2662567908" sldId="812"/>
            <ac:spMk id="5" creationId="{B4C07225-C9C0-C814-6EE2-D96270854081}"/>
          </ac:spMkLst>
        </pc:spChg>
      </pc:sldChg>
      <pc:sldChg chg="addSp modSp new mod">
        <pc:chgData name="Miryala Ankitha" userId="bc610c0ade34dc45" providerId="LiveId" clId="{C3270B32-111A-428E-9B73-33C7360D6697}" dt="2026-03-23T12:11:43.746" v="223" actId="123"/>
        <pc:sldMkLst>
          <pc:docMk/>
          <pc:sldMk cId="3425546096" sldId="813"/>
        </pc:sldMkLst>
        <pc:spChg chg="add mod">
          <ac:chgData name="Miryala Ankitha" userId="bc610c0ade34dc45" providerId="LiveId" clId="{C3270B32-111A-428E-9B73-33C7360D6697}" dt="2026-03-23T12:11:43.746" v="223" actId="123"/>
          <ac:spMkLst>
            <pc:docMk/>
            <pc:sldMk cId="3425546096" sldId="813"/>
            <ac:spMk id="4" creationId="{EB24C349-680C-E89E-E337-0837DEE78AC0}"/>
          </ac:spMkLst>
        </pc:spChg>
        <pc:spChg chg="add mod">
          <ac:chgData name="Miryala Ankitha" userId="bc610c0ade34dc45" providerId="LiveId" clId="{C3270B32-111A-428E-9B73-33C7360D6697}" dt="2026-03-23T12:11:17.324" v="221" actId="122"/>
          <ac:spMkLst>
            <pc:docMk/>
            <pc:sldMk cId="3425546096" sldId="813"/>
            <ac:spMk id="5" creationId="{37E7710C-1A92-93DF-3328-23ACE3FCEE92}"/>
          </ac:spMkLst>
        </pc:spChg>
      </pc:sldChg>
      <pc:sldChg chg="addSp modSp new mod">
        <pc:chgData name="Miryala Ankitha" userId="bc610c0ade34dc45" providerId="LiveId" clId="{C3270B32-111A-428E-9B73-33C7360D6697}" dt="2026-03-23T12:09:34.491" v="202" actId="14100"/>
        <pc:sldMkLst>
          <pc:docMk/>
          <pc:sldMk cId="587663823" sldId="814"/>
        </pc:sldMkLst>
        <pc:spChg chg="add mod">
          <ac:chgData name="Miryala Ankitha" userId="bc610c0ade34dc45" providerId="LiveId" clId="{C3270B32-111A-428E-9B73-33C7360D6697}" dt="2026-03-23T12:09:34.491" v="202" actId="14100"/>
          <ac:spMkLst>
            <pc:docMk/>
            <pc:sldMk cId="587663823" sldId="814"/>
            <ac:spMk id="4" creationId="{15A083E6-46C3-FE9A-A819-B0D985EC925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4F1D50-B6A2-4019-9617-B0BA6E91FF9B}" type="datetimeFigureOut">
              <a:rPr lang="en-IN" smtClean="0"/>
              <a:pPr/>
              <a:t>23-03-2026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760D06-E71C-4CF6-B4AC-B8B6AF0BE466}" type="slidenum">
              <a:rPr lang="en-IN" smtClean="0"/>
              <a:pPr/>
              <a:t>‹#›</a:t>
            </a:fld>
            <a:endParaRPr lang="en-IN"/>
          </a:p>
        </p:txBody>
      </p:sp>
    </p:spTree>
    <p:extLst>
      <p:ext uri="{BB962C8B-B14F-4D97-AF65-F5344CB8AC3E}">
        <p14:creationId xmlns:p14="http://schemas.microsoft.com/office/powerpoint/2010/main" val="1719849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32439-1400-4871-A1E8-C7474D4478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893264D-B01A-4290-A82E-7727F4A131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B8C1F4C-564C-456D-BF72-8037A3716569}"/>
              </a:ext>
            </a:extLst>
          </p:cNvPr>
          <p:cNvSpPr>
            <a:spLocks noGrp="1"/>
          </p:cNvSpPr>
          <p:nvPr>
            <p:ph type="dt" sz="half" idx="10"/>
          </p:nvPr>
        </p:nvSpPr>
        <p:spPr/>
        <p:txBody>
          <a:bodyPr/>
          <a:lstStyle/>
          <a:p>
            <a:fld id="{37BC200F-3AD5-488B-A90C-E22EC162B81D}" type="datetime1">
              <a:rPr lang="en-IN" smtClean="0"/>
              <a:pPr/>
              <a:t>23-03-2026</a:t>
            </a:fld>
            <a:endParaRPr lang="en-IN"/>
          </a:p>
        </p:txBody>
      </p:sp>
      <p:sp>
        <p:nvSpPr>
          <p:cNvPr id="5" name="Footer Placeholder 4">
            <a:extLst>
              <a:ext uri="{FF2B5EF4-FFF2-40B4-BE49-F238E27FC236}">
                <a16:creationId xmlns:a16="http://schemas.microsoft.com/office/drawing/2014/main" id="{709C422B-5E07-4115-9932-3FA2E7B081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20577A-0E47-4E38-A660-FC0D76D7267E}"/>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300117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FC8F7-1408-4E03-9E4D-89F36571F3D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CECEAC2-EDD9-4A1B-8E30-3AB3CE54F2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F494BC-2B5F-4933-96F3-C02C7484979E}"/>
              </a:ext>
            </a:extLst>
          </p:cNvPr>
          <p:cNvSpPr>
            <a:spLocks noGrp="1"/>
          </p:cNvSpPr>
          <p:nvPr>
            <p:ph type="dt" sz="half" idx="10"/>
          </p:nvPr>
        </p:nvSpPr>
        <p:spPr/>
        <p:txBody>
          <a:bodyPr/>
          <a:lstStyle/>
          <a:p>
            <a:fld id="{784BDB05-E2D4-4D29-8882-DE25842599A2}" type="datetime1">
              <a:rPr lang="en-IN" smtClean="0"/>
              <a:pPr/>
              <a:t>23-03-2026</a:t>
            </a:fld>
            <a:endParaRPr lang="en-IN"/>
          </a:p>
        </p:txBody>
      </p:sp>
      <p:sp>
        <p:nvSpPr>
          <p:cNvPr id="5" name="Footer Placeholder 4">
            <a:extLst>
              <a:ext uri="{FF2B5EF4-FFF2-40B4-BE49-F238E27FC236}">
                <a16:creationId xmlns:a16="http://schemas.microsoft.com/office/drawing/2014/main" id="{F6E7B0BB-7BCF-4959-B22F-283F7527CC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57FB52-389D-429A-827B-5EA4CA2499C7}"/>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1789497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59E0A-F353-45A7-9D3D-4197FDEB58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D58B4B3-9A58-47AF-892D-7B145EFA2C1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ACD6A9-D5B1-4AEF-BE15-B459414C082E}"/>
              </a:ext>
            </a:extLst>
          </p:cNvPr>
          <p:cNvSpPr>
            <a:spLocks noGrp="1"/>
          </p:cNvSpPr>
          <p:nvPr>
            <p:ph type="dt" sz="half" idx="10"/>
          </p:nvPr>
        </p:nvSpPr>
        <p:spPr/>
        <p:txBody>
          <a:bodyPr/>
          <a:lstStyle/>
          <a:p>
            <a:fld id="{A342B590-2B55-4604-B193-5B6D0EBB3818}" type="datetime1">
              <a:rPr lang="en-IN" smtClean="0"/>
              <a:pPr/>
              <a:t>23-03-2026</a:t>
            </a:fld>
            <a:endParaRPr lang="en-IN"/>
          </a:p>
        </p:txBody>
      </p:sp>
      <p:sp>
        <p:nvSpPr>
          <p:cNvPr id="5" name="Footer Placeholder 4">
            <a:extLst>
              <a:ext uri="{FF2B5EF4-FFF2-40B4-BE49-F238E27FC236}">
                <a16:creationId xmlns:a16="http://schemas.microsoft.com/office/drawing/2014/main" id="{2B94FE73-2575-46E0-9292-2323027342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9F333C-0E24-431D-8BEA-6EC3E032DC2E}"/>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4105025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0DEF8-2B7E-4274-9CCB-70BD370F6D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A9C7C84-E9A9-4607-92DC-EFE2B8EB71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991AD39-BC46-468D-AD9D-6C9C7A244F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86748D0-6615-4EB1-8559-162BC9E6834F}"/>
              </a:ext>
            </a:extLst>
          </p:cNvPr>
          <p:cNvSpPr>
            <a:spLocks noGrp="1"/>
          </p:cNvSpPr>
          <p:nvPr>
            <p:ph type="dt" sz="half" idx="10"/>
          </p:nvPr>
        </p:nvSpPr>
        <p:spPr/>
        <p:txBody>
          <a:bodyPr/>
          <a:lstStyle/>
          <a:p>
            <a:fld id="{E455046D-FD36-421D-B0B6-CF2E6F2F7E01}" type="datetime1">
              <a:rPr lang="en-IN" smtClean="0"/>
              <a:pPr/>
              <a:t>23-03-2026</a:t>
            </a:fld>
            <a:endParaRPr lang="en-IN"/>
          </a:p>
        </p:txBody>
      </p:sp>
      <p:sp>
        <p:nvSpPr>
          <p:cNvPr id="6" name="Footer Placeholder 5">
            <a:extLst>
              <a:ext uri="{FF2B5EF4-FFF2-40B4-BE49-F238E27FC236}">
                <a16:creationId xmlns:a16="http://schemas.microsoft.com/office/drawing/2014/main" id="{3611EDC9-53F7-46CE-9B1C-B999BCF227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4FECE7-D4F8-4E13-B22B-3E69193E1484}"/>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4233402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53E51-6FED-4252-AE8D-10E9ADE8E8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E43A8CB-0EAC-4DFD-A825-F1A89E07E8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B81793-EEE5-4B36-AB68-A56A3253E9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8B7E480-0365-40E1-BBF5-F594D108A0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FEFA48-5012-4D51-B8C0-91BF319E948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4D1D2DF-7DFA-4CF0-BC4B-72FFBFAA4185}"/>
              </a:ext>
            </a:extLst>
          </p:cNvPr>
          <p:cNvSpPr>
            <a:spLocks noGrp="1"/>
          </p:cNvSpPr>
          <p:nvPr>
            <p:ph type="dt" sz="half" idx="10"/>
          </p:nvPr>
        </p:nvSpPr>
        <p:spPr/>
        <p:txBody>
          <a:bodyPr/>
          <a:lstStyle/>
          <a:p>
            <a:fld id="{66719C6A-C228-4666-85AF-BFCAEE8D9375}" type="datetime1">
              <a:rPr lang="en-IN" smtClean="0"/>
              <a:pPr/>
              <a:t>23-03-2026</a:t>
            </a:fld>
            <a:endParaRPr lang="en-IN"/>
          </a:p>
        </p:txBody>
      </p:sp>
      <p:sp>
        <p:nvSpPr>
          <p:cNvPr id="8" name="Footer Placeholder 7">
            <a:extLst>
              <a:ext uri="{FF2B5EF4-FFF2-40B4-BE49-F238E27FC236}">
                <a16:creationId xmlns:a16="http://schemas.microsoft.com/office/drawing/2014/main" id="{60739B97-6D68-4A91-A511-2AE65BFA1E7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F6BD875-8D41-458D-8FE8-BE926E35D7F9}"/>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2065475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06007-8559-4DDA-ADB5-24066989C95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C0EE19D-7F57-4B73-B755-C39F7A12E72F}"/>
              </a:ext>
            </a:extLst>
          </p:cNvPr>
          <p:cNvSpPr>
            <a:spLocks noGrp="1"/>
          </p:cNvSpPr>
          <p:nvPr>
            <p:ph type="dt" sz="half" idx="10"/>
          </p:nvPr>
        </p:nvSpPr>
        <p:spPr/>
        <p:txBody>
          <a:bodyPr/>
          <a:lstStyle/>
          <a:p>
            <a:fld id="{D1476AC4-8DFC-4A25-AB02-3BCD901770ED}" type="datetime1">
              <a:rPr lang="en-IN" smtClean="0"/>
              <a:pPr/>
              <a:t>23-03-2026</a:t>
            </a:fld>
            <a:endParaRPr lang="en-IN"/>
          </a:p>
        </p:txBody>
      </p:sp>
      <p:sp>
        <p:nvSpPr>
          <p:cNvPr id="4" name="Footer Placeholder 3">
            <a:extLst>
              <a:ext uri="{FF2B5EF4-FFF2-40B4-BE49-F238E27FC236}">
                <a16:creationId xmlns:a16="http://schemas.microsoft.com/office/drawing/2014/main" id="{67AAA0DE-AFC5-477D-9E07-FD8BD826AAB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FB54AAA-3535-4C14-8166-FB6EACD31BDE}"/>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744109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B6E093-DDDC-4C60-AEF1-EA4F544AD145}"/>
              </a:ext>
            </a:extLst>
          </p:cNvPr>
          <p:cNvSpPr>
            <a:spLocks noGrp="1"/>
          </p:cNvSpPr>
          <p:nvPr>
            <p:ph type="dt" sz="half" idx="10"/>
          </p:nvPr>
        </p:nvSpPr>
        <p:spPr/>
        <p:txBody>
          <a:bodyPr/>
          <a:lstStyle/>
          <a:p>
            <a:fld id="{A18A7FA7-F693-4DFB-AEDA-FE633EEC95AF}" type="datetime1">
              <a:rPr lang="en-IN" smtClean="0"/>
              <a:pPr/>
              <a:t>23-03-2026</a:t>
            </a:fld>
            <a:endParaRPr lang="en-IN"/>
          </a:p>
        </p:txBody>
      </p:sp>
      <p:sp>
        <p:nvSpPr>
          <p:cNvPr id="3" name="Footer Placeholder 2">
            <a:extLst>
              <a:ext uri="{FF2B5EF4-FFF2-40B4-BE49-F238E27FC236}">
                <a16:creationId xmlns:a16="http://schemas.microsoft.com/office/drawing/2014/main" id="{4E0C2FED-4935-43BE-9345-59669AE0209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6524748-2BAB-49A8-95A7-B4AD77E46E74}"/>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1491688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2EA04-776C-4163-B584-044C333D88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90C04F9-E6C0-4D16-8852-953534E20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072862F-7160-4A67-8704-C47A0C8797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D65858-28DA-46E5-9508-74636F89DAE3}"/>
              </a:ext>
            </a:extLst>
          </p:cNvPr>
          <p:cNvSpPr>
            <a:spLocks noGrp="1"/>
          </p:cNvSpPr>
          <p:nvPr>
            <p:ph type="dt" sz="half" idx="10"/>
          </p:nvPr>
        </p:nvSpPr>
        <p:spPr/>
        <p:txBody>
          <a:bodyPr/>
          <a:lstStyle/>
          <a:p>
            <a:fld id="{43C56386-F633-4E6A-B8A1-EED31EF84510}" type="datetime1">
              <a:rPr lang="en-IN" smtClean="0"/>
              <a:pPr/>
              <a:t>23-03-2026</a:t>
            </a:fld>
            <a:endParaRPr lang="en-IN"/>
          </a:p>
        </p:txBody>
      </p:sp>
      <p:sp>
        <p:nvSpPr>
          <p:cNvPr id="6" name="Footer Placeholder 5">
            <a:extLst>
              <a:ext uri="{FF2B5EF4-FFF2-40B4-BE49-F238E27FC236}">
                <a16:creationId xmlns:a16="http://schemas.microsoft.com/office/drawing/2014/main" id="{05517B50-2DD1-4DB8-B8B8-0BAE9C952DD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01DAEE-A292-4277-BDC0-0070E249CAB8}"/>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3119977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C3873-316E-4899-8153-7086CCE4EE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7B67437-F6CB-4767-9B90-77B1BC10B1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731625E-C2D4-4EC5-8F44-FBF944F65F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5B6A3B-16DE-4E18-A332-29669A10B586}"/>
              </a:ext>
            </a:extLst>
          </p:cNvPr>
          <p:cNvSpPr>
            <a:spLocks noGrp="1"/>
          </p:cNvSpPr>
          <p:nvPr>
            <p:ph type="dt" sz="half" idx="10"/>
          </p:nvPr>
        </p:nvSpPr>
        <p:spPr/>
        <p:txBody>
          <a:bodyPr/>
          <a:lstStyle/>
          <a:p>
            <a:fld id="{56C880F4-BE75-409D-AF89-489FEC0B9E5F}" type="datetime1">
              <a:rPr lang="en-IN" smtClean="0"/>
              <a:pPr/>
              <a:t>23-03-2026</a:t>
            </a:fld>
            <a:endParaRPr lang="en-IN"/>
          </a:p>
        </p:txBody>
      </p:sp>
      <p:sp>
        <p:nvSpPr>
          <p:cNvPr id="6" name="Footer Placeholder 5">
            <a:extLst>
              <a:ext uri="{FF2B5EF4-FFF2-40B4-BE49-F238E27FC236}">
                <a16:creationId xmlns:a16="http://schemas.microsoft.com/office/drawing/2014/main" id="{DE65B289-D318-4A9C-BD6D-C44A849296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2EFA0E2-2C8D-4D74-B06E-178C555F194D}"/>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2491004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190BA-7554-4D42-B48C-58DD0CF4395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0F3D475-FB0E-4B81-B116-9EF55A9047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776E95-0183-4750-AF5B-7618B56938BC}"/>
              </a:ext>
            </a:extLst>
          </p:cNvPr>
          <p:cNvSpPr>
            <a:spLocks noGrp="1"/>
          </p:cNvSpPr>
          <p:nvPr>
            <p:ph type="dt" sz="half" idx="10"/>
          </p:nvPr>
        </p:nvSpPr>
        <p:spPr/>
        <p:txBody>
          <a:bodyPr/>
          <a:lstStyle/>
          <a:p>
            <a:fld id="{2039F6F4-037B-4332-9282-471FE71B5F7F}" type="datetime1">
              <a:rPr lang="en-IN" smtClean="0"/>
              <a:pPr/>
              <a:t>23-03-2026</a:t>
            </a:fld>
            <a:endParaRPr lang="en-IN"/>
          </a:p>
        </p:txBody>
      </p:sp>
      <p:sp>
        <p:nvSpPr>
          <p:cNvPr id="5" name="Footer Placeholder 4">
            <a:extLst>
              <a:ext uri="{FF2B5EF4-FFF2-40B4-BE49-F238E27FC236}">
                <a16:creationId xmlns:a16="http://schemas.microsoft.com/office/drawing/2014/main" id="{C29E9BCE-0963-403B-9D25-E460EE59B6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5EF912-9095-430D-8535-5BD3E4EF864C}"/>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1238654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CF8ED9-F70E-4EB1-8828-BC267D05C36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34D1639-EE11-4E0F-9935-5EE4029CBB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3C24BC-5C21-463E-8224-EEBB474F4DAC}"/>
              </a:ext>
            </a:extLst>
          </p:cNvPr>
          <p:cNvSpPr>
            <a:spLocks noGrp="1"/>
          </p:cNvSpPr>
          <p:nvPr>
            <p:ph type="dt" sz="half" idx="10"/>
          </p:nvPr>
        </p:nvSpPr>
        <p:spPr/>
        <p:txBody>
          <a:bodyPr/>
          <a:lstStyle/>
          <a:p>
            <a:fld id="{5EDABC32-C334-4B49-A727-D2C2C2E2FFFE}" type="datetime1">
              <a:rPr lang="en-IN" smtClean="0"/>
              <a:pPr/>
              <a:t>23-03-2026</a:t>
            </a:fld>
            <a:endParaRPr lang="en-IN"/>
          </a:p>
        </p:txBody>
      </p:sp>
      <p:sp>
        <p:nvSpPr>
          <p:cNvPr id="5" name="Footer Placeholder 4">
            <a:extLst>
              <a:ext uri="{FF2B5EF4-FFF2-40B4-BE49-F238E27FC236}">
                <a16:creationId xmlns:a16="http://schemas.microsoft.com/office/drawing/2014/main" id="{58817959-F41C-4265-B950-CE05B800FF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E3A482-8769-4E02-B46E-565987B03A21}"/>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3763962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167512-9A59-4F80-BDE3-E2EC9081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9B3164-25AA-4E2F-9CBD-64DBB8BCEA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6E2F16-F4BC-4CDE-9BA1-3FF94AA15E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D12017-EE5D-4064-B320-4434A6A5A13F}" type="datetime1">
              <a:rPr lang="en-IN" smtClean="0"/>
              <a:pPr/>
              <a:t>23-03-2026</a:t>
            </a:fld>
            <a:endParaRPr lang="en-IN"/>
          </a:p>
        </p:txBody>
      </p:sp>
      <p:sp>
        <p:nvSpPr>
          <p:cNvPr id="5" name="Footer Placeholder 4">
            <a:extLst>
              <a:ext uri="{FF2B5EF4-FFF2-40B4-BE49-F238E27FC236}">
                <a16:creationId xmlns:a16="http://schemas.microsoft.com/office/drawing/2014/main" id="{37B6BA1D-C155-4BD7-98A4-5C4CD141FF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DAFD399-70D5-46C3-AF05-F083473AF3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183BA4-7B10-4BE3-A0B2-A48721054ED6}" type="slidenum">
              <a:rPr lang="en-IN" smtClean="0"/>
              <a:pPr/>
              <a:t>‹#›</a:t>
            </a:fld>
            <a:endParaRPr lang="en-IN"/>
          </a:p>
        </p:txBody>
      </p:sp>
    </p:spTree>
    <p:extLst>
      <p:ext uri="{BB962C8B-B14F-4D97-AF65-F5344CB8AC3E}">
        <p14:creationId xmlns:p14="http://schemas.microsoft.com/office/powerpoint/2010/main" val="28618785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34171B3D-41F2-4B45-860B-5E3607A31D49}"/>
              </a:ext>
            </a:extLst>
          </p:cNvPr>
          <p:cNvSpPr txBox="1"/>
          <p:nvPr/>
        </p:nvSpPr>
        <p:spPr>
          <a:xfrm>
            <a:off x="1952237" y="194043"/>
            <a:ext cx="10103520" cy="2082621"/>
          </a:xfrm>
          <a:prstGeom prst="rect">
            <a:avLst/>
          </a:prstGeom>
          <a:noFill/>
        </p:spPr>
        <p:txBody>
          <a:bodyPr wrap="square">
            <a:spAutoFit/>
          </a:bodyPr>
          <a:lstStyle/>
          <a:p>
            <a:pPr algn="ctr"/>
            <a:r>
              <a:rPr lang="en-IN" sz="3200" b="1" dirty="0">
                <a:latin typeface="Times New Roman" panose="02020603050405020304" pitchFamily="18" charset="0"/>
                <a:cs typeface="Times New Roman" panose="02020603050405020304" pitchFamily="18" charset="0"/>
              </a:rPr>
              <a:t>SREE DATTHA INSTITUTE OF ENGINEERING AND SCIENCE</a:t>
            </a:r>
            <a:endParaRPr lang="en-IN" sz="3200" dirty="0">
              <a:latin typeface="Times New Roman" panose="02020603050405020304" pitchFamily="18" charset="0"/>
              <a:cs typeface="Times New Roman" panose="02020603050405020304" pitchFamily="18" charset="0"/>
            </a:endParaRPr>
          </a:p>
          <a:p>
            <a:pPr algn="ctr"/>
            <a:r>
              <a:rPr lang="en-IN" b="1" dirty="0">
                <a:latin typeface="Times New Roman" panose="02020603050405020304" pitchFamily="18" charset="0"/>
                <a:cs typeface="Times New Roman" panose="02020603050405020304" pitchFamily="18" charset="0"/>
              </a:rPr>
              <a:t>(UGC - Autonomous)</a:t>
            </a:r>
            <a:endParaRPr lang="en-IN" dirty="0">
              <a:latin typeface="Times New Roman" panose="02020603050405020304" pitchFamily="18" charset="0"/>
              <a:cs typeface="Times New Roman" panose="02020603050405020304" pitchFamily="18" charset="0"/>
            </a:endParaRPr>
          </a:p>
          <a:p>
            <a:pPr algn="ctr"/>
            <a:r>
              <a:rPr lang="en-IN" sz="1400" b="1" dirty="0">
                <a:latin typeface="Times New Roman" panose="02020603050405020304" pitchFamily="18" charset="0"/>
                <a:cs typeface="Times New Roman" panose="02020603050405020304" pitchFamily="18" charset="0"/>
              </a:rPr>
              <a:t>Sheriguda (V), Ibrahimpatnam (M), Telangana - 501510.</a:t>
            </a:r>
            <a:endParaRPr lang="en-IN" sz="1400" dirty="0">
              <a:latin typeface="Times New Roman" panose="02020603050405020304" pitchFamily="18" charset="0"/>
              <a:cs typeface="Times New Roman" panose="02020603050405020304" pitchFamily="18" charset="0"/>
            </a:endParaRPr>
          </a:p>
          <a:p>
            <a:pPr algn="ctr"/>
            <a:r>
              <a:rPr lang="en-IN" sz="1400" b="1" dirty="0">
                <a:latin typeface="Times New Roman" panose="02020603050405020304" pitchFamily="18" charset="0"/>
                <a:cs typeface="Times New Roman" panose="02020603050405020304" pitchFamily="18" charset="0"/>
              </a:rPr>
              <a:t>www.sreedattha.ac.in</a:t>
            </a:r>
            <a:endParaRPr lang="en-IN" sz="1400" dirty="0">
              <a:latin typeface="Times New Roman" panose="02020603050405020304" pitchFamily="18" charset="0"/>
              <a:cs typeface="Times New Roman" panose="02020603050405020304" pitchFamily="18" charset="0"/>
            </a:endParaRPr>
          </a:p>
          <a:p>
            <a:pPr marR="16510" algn="ctr">
              <a:spcBef>
                <a:spcPts val="365"/>
              </a:spcBef>
              <a:spcAft>
                <a:spcPts val="250"/>
              </a:spcAft>
            </a:pPr>
            <a:endParaRPr lang="en-IN" sz="16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4" name="Subtitle 2">
            <a:extLst>
              <a:ext uri="{FF2B5EF4-FFF2-40B4-BE49-F238E27FC236}">
                <a16:creationId xmlns:a16="http://schemas.microsoft.com/office/drawing/2014/main" id="{D76D3B75-5278-4020-9209-060C511363F8}"/>
              </a:ext>
            </a:extLst>
          </p:cNvPr>
          <p:cNvSpPr txBox="1">
            <a:spLocks/>
          </p:cNvSpPr>
          <p:nvPr/>
        </p:nvSpPr>
        <p:spPr>
          <a:xfrm>
            <a:off x="-1" y="2399775"/>
            <a:ext cx="12192000" cy="89166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latin typeface="Times New Roman" panose="02020603050405020304" pitchFamily="18" charset="0"/>
                <a:cs typeface="Times New Roman" panose="02020603050405020304" pitchFamily="18" charset="0"/>
              </a:rPr>
              <a:t>TITLE OF THE PROJECT: CLOUD ASSISTED FAST ROUTE DISCOVERY </a:t>
            </a:r>
          </a:p>
          <a:p>
            <a:pPr marL="0" indent="0" algn="ctr">
              <a:buNone/>
            </a:pPr>
            <a:r>
              <a:rPr lang="en-US" b="1" dirty="0">
                <a:latin typeface="Times New Roman" panose="02020603050405020304" pitchFamily="18" charset="0"/>
                <a:cs typeface="Times New Roman" panose="02020603050405020304" pitchFamily="18" charset="0"/>
              </a:rPr>
              <a:t>IN AODV FOR DISASTER CLUSTER STABILITY</a:t>
            </a:r>
          </a:p>
        </p:txBody>
      </p:sp>
      <p:sp>
        <p:nvSpPr>
          <p:cNvPr id="15" name="TextBox 14">
            <a:extLst>
              <a:ext uri="{FF2B5EF4-FFF2-40B4-BE49-F238E27FC236}">
                <a16:creationId xmlns:a16="http://schemas.microsoft.com/office/drawing/2014/main" id="{BBE8A074-7A92-49E2-B981-AE2FCEAEB324}"/>
              </a:ext>
            </a:extLst>
          </p:cNvPr>
          <p:cNvSpPr txBox="1"/>
          <p:nvPr/>
        </p:nvSpPr>
        <p:spPr>
          <a:xfrm>
            <a:off x="3228393" y="3291442"/>
            <a:ext cx="6297738" cy="3877043"/>
          </a:xfrm>
          <a:prstGeom prst="rect">
            <a:avLst/>
          </a:prstGeom>
          <a:noFill/>
        </p:spPr>
        <p:txBody>
          <a:bodyPr wrap="square" rtlCol="0">
            <a:spAutoFit/>
          </a:bodyPr>
          <a:lstStyle/>
          <a:p>
            <a:pPr algn="ctr"/>
            <a:r>
              <a:rPr lang="en-US" b="1" dirty="0">
                <a:latin typeface="Times New Roman" pitchFamily="18" charset="0"/>
                <a:cs typeface="Times New Roman" pitchFamily="18" charset="0"/>
              </a:rPr>
              <a:t>Batch No:03</a:t>
            </a:r>
            <a:endParaRPr lang="en-US" b="1" dirty="0">
              <a:solidFill>
                <a:srgbClr val="FF0000"/>
              </a:solidFill>
              <a:latin typeface="Times New Roman" pitchFamily="18" charset="0"/>
              <a:cs typeface="Times New Roman" pitchFamily="18" charset="0"/>
            </a:endParaRPr>
          </a:p>
          <a:p>
            <a:pPr lvl="0" algn="just">
              <a:lnSpc>
                <a:spcPct val="150000"/>
              </a:lnSpc>
            </a:pPr>
            <a:r>
              <a:rPr lang="en-US" b="1" dirty="0">
                <a:latin typeface="Times New Roman" pitchFamily="18" charset="0"/>
                <a:cs typeface="Times New Roman" pitchFamily="18" charset="0"/>
              </a:rPr>
              <a:t>         1. </a:t>
            </a:r>
            <a:r>
              <a:rPr lang="en-US" b="1" dirty="0" err="1">
                <a:latin typeface="Times New Roman" pitchFamily="18" charset="0"/>
                <a:cs typeface="Times New Roman" pitchFamily="18" charset="0"/>
              </a:rPr>
              <a:t>M.Ankitha</a:t>
            </a:r>
            <a:r>
              <a:rPr lang="en-US" b="1" dirty="0">
                <a:effectLst/>
                <a:latin typeface="Times New Roman" panose="02020603050405020304" pitchFamily="18" charset="0"/>
                <a:ea typeface="Times New Roman" panose="02020603050405020304" pitchFamily="18" charset="0"/>
                <a:cs typeface="Times New Roman" panose="02020603050405020304" pitchFamily="18" charset="0"/>
              </a:rPr>
              <a:t>   	              23E41A05J5</a:t>
            </a:r>
            <a:endParaRPr lang="en-IN" b="1"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50000"/>
              </a:lnSpc>
            </a:pPr>
            <a:r>
              <a:rPr lang="en-US" b="1" dirty="0">
                <a:effectLst/>
                <a:latin typeface="Times New Roman" panose="02020603050405020304" pitchFamily="18" charset="0"/>
                <a:ea typeface="Times New Roman" panose="02020603050405020304" pitchFamily="18" charset="0"/>
                <a:cs typeface="Times New Roman" panose="02020603050405020304" pitchFamily="18" charset="0"/>
              </a:rPr>
              <a:t>         2.G.Vindhu</a:t>
            </a:r>
            <a:r>
              <a:rPr lang="en-US" b="1" dirty="0">
                <a:latin typeface="Times New Roman" panose="02020603050405020304" pitchFamily="18" charset="0"/>
                <a:ea typeface="Times New Roman" panose="02020603050405020304" pitchFamily="18" charset="0"/>
                <a:cs typeface="Times New Roman" panose="02020603050405020304" pitchFamily="18" charset="0"/>
              </a:rPr>
              <a:t>   	                              23E41A05L0</a:t>
            </a:r>
            <a:endParaRPr lang="en-IN" b="1" dirty="0">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50000"/>
              </a:lnSpc>
            </a:pPr>
            <a:r>
              <a:rPr lang="en-US" b="1" dirty="0">
                <a:latin typeface="Times New Roman" panose="02020603050405020304" pitchFamily="18" charset="0"/>
                <a:ea typeface="Times New Roman" panose="02020603050405020304" pitchFamily="18" charset="0"/>
                <a:cs typeface="Times New Roman" panose="02020603050405020304" pitchFamily="18" charset="0"/>
              </a:rPr>
              <a:t>         3.</a:t>
            </a:r>
            <a:r>
              <a:rPr lang="en-US"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G.Akhil</a:t>
            </a:r>
            <a:r>
              <a:rPr lang="en-US" b="1" dirty="0">
                <a:latin typeface="Times New Roman" panose="02020603050405020304" pitchFamily="18" charset="0"/>
                <a:ea typeface="Times New Roman" panose="02020603050405020304" pitchFamily="18" charset="0"/>
                <a:cs typeface="Times New Roman" panose="02020603050405020304" pitchFamily="18" charset="0"/>
              </a:rPr>
              <a:t> Kumar   	              23E41A05L6</a:t>
            </a:r>
          </a:p>
          <a:p>
            <a:pPr algn="just">
              <a:lnSpc>
                <a:spcPct val="150000"/>
              </a:lnSpc>
            </a:pPr>
            <a:r>
              <a:rPr lang="en-US" b="1" dirty="0">
                <a:latin typeface="Times New Roman" panose="02020603050405020304" pitchFamily="18" charset="0"/>
                <a:ea typeface="Times New Roman" panose="02020603050405020304" pitchFamily="18" charset="0"/>
                <a:cs typeface="Times New Roman" panose="02020603050405020304" pitchFamily="18" charset="0"/>
              </a:rPr>
              <a:t>         4.</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N.BalajiJyoshika</a:t>
            </a:r>
            <a:r>
              <a:rPr lang="en-US" b="1" dirty="0">
                <a:latin typeface="Times New Roman" panose="02020603050405020304" pitchFamily="18" charset="0"/>
                <a:ea typeface="Times New Roman" panose="02020603050405020304" pitchFamily="18" charset="0"/>
                <a:cs typeface="Times New Roman" panose="02020603050405020304" pitchFamily="18" charset="0"/>
              </a:rPr>
              <a:t>     	              23E41A05K1</a:t>
            </a:r>
            <a:endParaRPr lang="en-IN" b="1" dirty="0">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50000"/>
              </a:lnSpc>
            </a:pPr>
            <a:endParaRPr lang="en-US"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pPr>
            <a:endParaRPr lang="en-IN" sz="2000" b="1" dirty="0">
              <a:latin typeface="Calibri" panose="020F0502020204030204" pitchFamily="34" charset="0"/>
              <a:ea typeface="Times New Roman" panose="02020603050405020304" pitchFamily="18" charset="0"/>
              <a:cs typeface="Times New Roman" panose="02020603050405020304" pitchFamily="18" charset="0"/>
            </a:endParaRPr>
          </a:p>
          <a:p>
            <a:pPr lvl="0" algn="just">
              <a:lnSpc>
                <a:spcPct val="150000"/>
              </a:lnSpc>
            </a:pPr>
            <a:endParaRPr lang="en-IN" sz="2000" b="1" dirty="0">
              <a:effectLst/>
              <a:latin typeface="Calibri" panose="020F0502020204030204" pitchFamily="34" charset="0"/>
              <a:ea typeface="Times New Roman" panose="02020603050405020304" pitchFamily="18" charset="0"/>
              <a:cs typeface="Times New Roman" panose="02020603050405020304" pitchFamily="18" charset="0"/>
            </a:endParaRPr>
          </a:p>
          <a:p>
            <a:pPr algn="ctr"/>
            <a:endParaRPr lang="en-US" sz="2400" b="1" dirty="0">
              <a:latin typeface="Times New Roman" pitchFamily="18" charset="0"/>
              <a:cs typeface="Times New Roman" pitchFamily="18" charset="0"/>
            </a:endParaRPr>
          </a:p>
        </p:txBody>
      </p:sp>
      <p:sp>
        <p:nvSpPr>
          <p:cNvPr id="16" name="TextBox 15">
            <a:extLst>
              <a:ext uri="{FF2B5EF4-FFF2-40B4-BE49-F238E27FC236}">
                <a16:creationId xmlns:a16="http://schemas.microsoft.com/office/drawing/2014/main" id="{814846BF-F4EE-4ADF-8E6D-318E4ACE8748}"/>
              </a:ext>
            </a:extLst>
          </p:cNvPr>
          <p:cNvSpPr txBox="1"/>
          <p:nvPr/>
        </p:nvSpPr>
        <p:spPr>
          <a:xfrm>
            <a:off x="-1" y="5337110"/>
            <a:ext cx="11961846" cy="1938992"/>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Under the Guidance of  </a:t>
            </a:r>
          </a:p>
          <a:p>
            <a:pPr algn="ctr"/>
            <a:r>
              <a:rPr lang="en-US" sz="2400" b="1" dirty="0" err="1">
                <a:latin typeface="Times New Roman" panose="02020603050405020304" pitchFamily="18" charset="0"/>
                <a:cs typeface="Times New Roman" panose="02020603050405020304" pitchFamily="18" charset="0"/>
              </a:rPr>
              <a:t>P.Anupama</a:t>
            </a:r>
            <a:endParaRPr lang="en-US" sz="2400" b="1" dirty="0">
              <a:latin typeface="Times New Roman" panose="02020603050405020304" pitchFamily="18" charset="0"/>
              <a:cs typeface="Times New Roman" panose="02020603050405020304" pitchFamily="18" charset="0"/>
            </a:endParaRPr>
          </a:p>
          <a:p>
            <a:pPr algn="ctr"/>
            <a:r>
              <a:rPr lang="en-US" sz="2400" b="1" dirty="0" err="1">
                <a:latin typeface="Times New Roman" panose="02020603050405020304" pitchFamily="18" charset="0"/>
                <a:cs typeface="Times New Roman" panose="02020603050405020304" pitchFamily="18" charset="0"/>
              </a:rPr>
              <a:t>Assisstant</a:t>
            </a:r>
            <a:r>
              <a:rPr lang="en-US" sz="2400" b="1" dirty="0">
                <a:latin typeface="Times New Roman" panose="02020603050405020304" pitchFamily="18" charset="0"/>
                <a:cs typeface="Times New Roman" panose="02020603050405020304" pitchFamily="18" charset="0"/>
              </a:rPr>
              <a:t> Professor</a:t>
            </a:r>
          </a:p>
          <a:p>
            <a:pPr algn="ctr"/>
            <a:r>
              <a:rPr lang="en-US" sz="2400" b="1" dirty="0">
                <a:latin typeface="Times New Roman" panose="02020603050405020304" pitchFamily="18" charset="0"/>
                <a:cs typeface="Times New Roman" panose="02020603050405020304" pitchFamily="18" charset="0"/>
              </a:rPr>
              <a:t>Department of Computer Science and Engineering </a:t>
            </a:r>
            <a:endParaRPr lang="en-US" sz="2400" b="1" dirty="0">
              <a:solidFill>
                <a:srgbClr val="FF0000"/>
              </a:solidFill>
              <a:latin typeface="Times New Roman" pitchFamily="18" charset="0"/>
              <a:cs typeface="Times New Roman" pitchFamily="18" charset="0"/>
            </a:endParaRPr>
          </a:p>
          <a:p>
            <a:pPr algn="ctr"/>
            <a:endParaRPr lang="en-IN" sz="2400" b="1" dirty="0">
              <a:latin typeface="Times New Roman" panose="02020603050405020304" pitchFamily="18" charset="0"/>
              <a:cs typeface="Times New Roman" panose="02020603050405020304" pitchFamily="18" charset="0"/>
            </a:endParaRPr>
          </a:p>
        </p:txBody>
      </p:sp>
      <p:sp>
        <p:nvSpPr>
          <p:cNvPr id="2" name="TextBox 1"/>
          <p:cNvSpPr txBox="1"/>
          <p:nvPr/>
        </p:nvSpPr>
        <p:spPr>
          <a:xfrm>
            <a:off x="1" y="1757517"/>
            <a:ext cx="12191998" cy="461665"/>
          </a:xfrm>
          <a:prstGeom prst="rect">
            <a:avLst/>
          </a:prstGeom>
          <a:noFill/>
        </p:spPr>
        <p:txBody>
          <a:bodyPr wrap="square" rtlCol="0">
            <a:spAutoFit/>
          </a:bodyPr>
          <a:lstStyle/>
          <a:p>
            <a:pPr algn="ctr"/>
            <a:r>
              <a:rPr lang="en-US" sz="2400" b="1" dirty="0">
                <a:latin typeface="Times New Roman" pitchFamily="18" charset="0"/>
                <a:cs typeface="Times New Roman" pitchFamily="18" charset="0"/>
              </a:rPr>
              <a:t>Department of  Computer Science and Engineering</a:t>
            </a:r>
          </a:p>
        </p:txBody>
      </p:sp>
      <p:pic>
        <p:nvPicPr>
          <p:cNvPr id="3" name="Picture 2" descr="A logo for a company&#10;&#10;AI-generated content may be incorrect.">
            <a:extLst>
              <a:ext uri="{FF2B5EF4-FFF2-40B4-BE49-F238E27FC236}">
                <a16:creationId xmlns:a16="http://schemas.microsoft.com/office/drawing/2014/main" id="{5CCE6D2F-1483-452D-D0A2-22A0821D311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6243" y="0"/>
            <a:ext cx="1815994" cy="1735737"/>
          </a:xfrm>
          <a:prstGeom prst="rect">
            <a:avLst/>
          </a:prstGeom>
        </p:spPr>
      </p:pic>
    </p:spTree>
    <p:extLst>
      <p:ext uri="{BB962C8B-B14F-4D97-AF65-F5344CB8AC3E}">
        <p14:creationId xmlns:p14="http://schemas.microsoft.com/office/powerpoint/2010/main" val="737780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OUTLINE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0" y="998376"/>
            <a:ext cx="12191998" cy="5178587"/>
          </a:xfrm>
        </p:spPr>
        <p:txBody>
          <a:bodyPr>
            <a:normAutofit/>
          </a:bodyPr>
          <a:lstStyle/>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rPr>
              <a:t>Title of the project </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rPr>
              <a:t>Abstract</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rPr>
              <a:t>Introduction</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rPr>
              <a:t>Literature Survey</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rPr>
              <a:t>Existing System</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rPr>
              <a:t>Proposed System</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rPr>
              <a:t>Module Split-up</a:t>
            </a:r>
            <a:endParaRPr lang="en-IN" dirty="0"/>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fld id="{D121BCBC-AF21-480F-8C1A-83C58722766A}" type="datetime1">
              <a:rPr lang="en-IN" smtClean="0"/>
              <a:pPr/>
              <a:t>23-03-2026</a:t>
            </a:fld>
            <a:endParaRPr lang="en-IN" dirty="0"/>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2</a:t>
            </a:fld>
            <a:endParaRPr lang="en-IN"/>
          </a:p>
        </p:txBody>
      </p:sp>
    </p:spTree>
    <p:extLst>
      <p:ext uri="{BB962C8B-B14F-4D97-AF65-F5344CB8AC3E}">
        <p14:creationId xmlns:p14="http://schemas.microsoft.com/office/powerpoint/2010/main" val="3882226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9F1051-76ED-4380-370F-487F160ED732}"/>
              </a:ext>
            </a:extLst>
          </p:cNvPr>
          <p:cNvSpPr>
            <a:spLocks noGrp="1"/>
          </p:cNvSpPr>
          <p:nvPr>
            <p:ph type="dt" sz="half" idx="10"/>
          </p:nvPr>
        </p:nvSpPr>
        <p:spPr/>
        <p:txBody>
          <a:bodyPr/>
          <a:lstStyle/>
          <a:p>
            <a:fld id="{A18A7FA7-F693-4DFB-AEDA-FE633EEC95AF}" type="datetime1">
              <a:rPr lang="en-IN" smtClean="0"/>
              <a:pPr/>
              <a:t>23-03-2026</a:t>
            </a:fld>
            <a:endParaRPr lang="en-IN"/>
          </a:p>
        </p:txBody>
      </p:sp>
      <p:sp>
        <p:nvSpPr>
          <p:cNvPr id="3" name="Slide Number Placeholder 2">
            <a:extLst>
              <a:ext uri="{FF2B5EF4-FFF2-40B4-BE49-F238E27FC236}">
                <a16:creationId xmlns:a16="http://schemas.microsoft.com/office/drawing/2014/main" id="{E7631A14-8976-B211-F0EF-D417A5D3523B}"/>
              </a:ext>
            </a:extLst>
          </p:cNvPr>
          <p:cNvSpPr>
            <a:spLocks noGrp="1"/>
          </p:cNvSpPr>
          <p:nvPr>
            <p:ph type="sldNum" sz="quarter" idx="12"/>
          </p:nvPr>
        </p:nvSpPr>
        <p:spPr/>
        <p:txBody>
          <a:bodyPr/>
          <a:lstStyle/>
          <a:p>
            <a:fld id="{A0183BA4-7B10-4BE3-A0B2-A48721054ED6}" type="slidenum">
              <a:rPr lang="en-IN" smtClean="0"/>
              <a:pPr/>
              <a:t>3</a:t>
            </a:fld>
            <a:endParaRPr lang="en-IN"/>
          </a:p>
        </p:txBody>
      </p:sp>
      <p:sp>
        <p:nvSpPr>
          <p:cNvPr id="4" name="TextBox 3">
            <a:extLst>
              <a:ext uri="{FF2B5EF4-FFF2-40B4-BE49-F238E27FC236}">
                <a16:creationId xmlns:a16="http://schemas.microsoft.com/office/drawing/2014/main" id="{C9925684-97BE-5231-67F9-5F1361E16697}"/>
              </a:ext>
            </a:extLst>
          </p:cNvPr>
          <p:cNvSpPr txBox="1"/>
          <p:nvPr/>
        </p:nvSpPr>
        <p:spPr>
          <a:xfrm>
            <a:off x="491613" y="589935"/>
            <a:ext cx="11238272" cy="3970318"/>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8. Progress on Design</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9. Analysis and Experimental Work</a:t>
            </a:r>
          </a:p>
          <a:p>
            <a:endParaRPr lang="en-IN"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10. Prototype</a:t>
            </a:r>
          </a:p>
          <a:p>
            <a:endParaRPr lang="en-IN"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11. Result and Analysis</a:t>
            </a:r>
          </a:p>
          <a:p>
            <a:endParaRPr lang="en-IN"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12. Conclusion</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5112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29FFB-C4D0-E935-091D-849DB00788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A0D14C-CA48-3C80-D2DE-04BA96FD904B}"/>
              </a:ext>
            </a:extLst>
          </p:cNvPr>
          <p:cNvSpPr>
            <a:spLocks noGrp="1"/>
          </p:cNvSpPr>
          <p:nvPr>
            <p:ph type="title"/>
          </p:nvPr>
        </p:nvSpPr>
        <p:spPr>
          <a:xfrm>
            <a:off x="0" y="0"/>
            <a:ext cx="12192000" cy="1203649"/>
          </a:xfrm>
        </p:spPr>
        <p:txBody>
          <a:bodyPr/>
          <a:lstStyle/>
          <a:p>
            <a:pPr algn="ctr"/>
            <a:r>
              <a:rPr lang="en-US" sz="3600" b="1" dirty="0">
                <a:latin typeface="Times New Roman" panose="02020603050405020304" pitchFamily="18" charset="0"/>
                <a:cs typeface="Times New Roman" panose="02020603050405020304" pitchFamily="18" charset="0"/>
              </a:rPr>
              <a:t>C</a:t>
            </a:r>
            <a:r>
              <a:rPr lang="en-IN" sz="3600" b="1" dirty="0">
                <a:latin typeface="Times New Roman" panose="02020603050405020304" pitchFamily="18" charset="0"/>
                <a:cs typeface="Times New Roman" panose="02020603050405020304" pitchFamily="18" charset="0"/>
              </a:rPr>
              <a:t>loud Assisted Fast Route Discovery in AODV For Disaster Rescue Cluster Stability</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6E2134-DB46-1A14-C97A-5B5ACA940438}"/>
              </a:ext>
            </a:extLst>
          </p:cNvPr>
          <p:cNvSpPr>
            <a:spLocks noGrp="1"/>
          </p:cNvSpPr>
          <p:nvPr>
            <p:ph idx="1"/>
          </p:nvPr>
        </p:nvSpPr>
        <p:spPr>
          <a:xfrm>
            <a:off x="432619" y="1203649"/>
            <a:ext cx="11316930" cy="5234472"/>
          </a:xfrm>
        </p:spPr>
        <p:txBody>
          <a:bodyPr>
            <a:noAutofit/>
          </a:bodyPr>
          <a:lstStyle/>
          <a:p>
            <a:pPr algn="just">
              <a:lnSpc>
                <a:spcPct val="150000"/>
              </a:lnSpc>
              <a:spcBef>
                <a:spcPts val="415"/>
              </a:spcBef>
              <a:buSzPct val="80000"/>
              <a:buFont typeface="Wingdings" panose="05000000000000000000" pitchFamily="2" charset="2"/>
              <a:buChar char="Ø"/>
              <a:tabLst>
                <a:tab pos="367030" algn="l"/>
              </a:tabLst>
            </a:pPr>
            <a:r>
              <a:rPr lang="en-US" dirty="0">
                <a:solidFill>
                  <a:schemeClr val="tx1">
                    <a:lumMod val="95000"/>
                    <a:lumOff val="5000"/>
                  </a:schemeClr>
                </a:solidFill>
                <a:latin typeface="Times New Roman" pitchFamily="18" charset="0"/>
                <a:cs typeface="Times New Roman" pitchFamily="18" charset="0"/>
              </a:rPr>
              <a:t>Cloud-assisted fast route discovery in AODV enhances communication reliability in disaster cluster environments by leveraging cloud computing support.</a:t>
            </a:r>
          </a:p>
          <a:p>
            <a:pPr algn="just">
              <a:lnSpc>
                <a:spcPct val="150000"/>
              </a:lnSpc>
              <a:spcBef>
                <a:spcPts val="415"/>
              </a:spcBef>
              <a:buSzPct val="80000"/>
              <a:buFont typeface="Wingdings" panose="05000000000000000000" pitchFamily="2" charset="2"/>
              <a:buChar char="Ø"/>
              <a:tabLst>
                <a:tab pos="367030" algn="l"/>
              </a:tabLst>
            </a:pPr>
            <a:r>
              <a:rPr lang="en-US" dirty="0">
                <a:solidFill>
                  <a:schemeClr val="tx1">
                    <a:lumMod val="95000"/>
                    <a:lumOff val="5000"/>
                  </a:schemeClr>
                </a:solidFill>
                <a:latin typeface="Times New Roman" pitchFamily="18" charset="0"/>
                <a:cs typeface="Times New Roman" pitchFamily="18" charset="0"/>
              </a:rPr>
              <a:t> During disasters, network nodes are highly mobile and infrastructure is unstable, 	causing frequent route failures. </a:t>
            </a:r>
          </a:p>
          <a:p>
            <a:pPr algn="just">
              <a:lnSpc>
                <a:spcPct val="150000"/>
              </a:lnSpc>
              <a:spcBef>
                <a:spcPts val="415"/>
              </a:spcBef>
              <a:buSzPct val="80000"/>
              <a:buFont typeface="Wingdings" panose="05000000000000000000" pitchFamily="2" charset="2"/>
              <a:buChar char="Ø"/>
              <a:tabLst>
                <a:tab pos="367030" algn="l"/>
              </a:tabLst>
            </a:pPr>
            <a:r>
              <a:rPr lang="en-US" dirty="0">
                <a:solidFill>
                  <a:schemeClr val="tx1">
                    <a:lumMod val="95000"/>
                    <a:lumOff val="5000"/>
                  </a:schemeClr>
                </a:solidFill>
                <a:latin typeface="Times New Roman" pitchFamily="18" charset="0"/>
                <a:cs typeface="Times New Roman" pitchFamily="18" charset="0"/>
              </a:rPr>
              <a:t> The cloud assists by maintaining updated network state information and predicting   optimal routes. </a:t>
            </a:r>
          </a:p>
        </p:txBody>
      </p:sp>
      <p:sp>
        <p:nvSpPr>
          <p:cNvPr id="4" name="Date Placeholder 3">
            <a:extLst>
              <a:ext uri="{FF2B5EF4-FFF2-40B4-BE49-F238E27FC236}">
                <a16:creationId xmlns:a16="http://schemas.microsoft.com/office/drawing/2014/main" id="{614D9346-077D-AE58-961A-EFB398B56BA7}"/>
              </a:ext>
            </a:extLst>
          </p:cNvPr>
          <p:cNvSpPr>
            <a:spLocks noGrp="1"/>
          </p:cNvSpPr>
          <p:nvPr>
            <p:ph type="dt" sz="half" idx="10"/>
          </p:nvPr>
        </p:nvSpPr>
        <p:spPr/>
        <p:txBody>
          <a:bodyPr/>
          <a:lstStyle/>
          <a:p>
            <a:fld id="{D121BCBC-AF21-480F-8C1A-83C58722766A}" type="datetime1">
              <a:rPr lang="en-IN" smtClean="0"/>
              <a:pPr/>
              <a:t>23-03-2026</a:t>
            </a:fld>
            <a:endParaRPr lang="en-IN" dirty="0"/>
          </a:p>
        </p:txBody>
      </p:sp>
      <p:sp>
        <p:nvSpPr>
          <p:cNvPr id="5" name="Slide Number Placeholder 4">
            <a:extLst>
              <a:ext uri="{FF2B5EF4-FFF2-40B4-BE49-F238E27FC236}">
                <a16:creationId xmlns:a16="http://schemas.microsoft.com/office/drawing/2014/main" id="{7586B55A-C109-6FB8-AE00-290E462C3BF6}"/>
              </a:ext>
            </a:extLst>
          </p:cNvPr>
          <p:cNvSpPr>
            <a:spLocks noGrp="1"/>
          </p:cNvSpPr>
          <p:nvPr>
            <p:ph type="sldNum" sz="quarter" idx="12"/>
          </p:nvPr>
        </p:nvSpPr>
        <p:spPr/>
        <p:txBody>
          <a:bodyPr/>
          <a:lstStyle/>
          <a:p>
            <a:fld id="{A0183BA4-7B10-4BE3-A0B2-A48721054ED6}" type="slidenum">
              <a:rPr lang="en-IN" smtClean="0"/>
              <a:pPr/>
              <a:t>4</a:t>
            </a:fld>
            <a:endParaRPr lang="en-IN"/>
          </a:p>
        </p:txBody>
      </p:sp>
    </p:spTree>
    <p:extLst>
      <p:ext uri="{BB962C8B-B14F-4D97-AF65-F5344CB8AC3E}">
        <p14:creationId xmlns:p14="http://schemas.microsoft.com/office/powerpoint/2010/main" val="27284763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ABSTRACT</a:t>
            </a:r>
            <a:endParaRPr lang="en-IN"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fld id="{D121BCBC-AF21-480F-8C1A-83C58722766A}" type="datetime1">
              <a:rPr lang="en-IN" smtClean="0"/>
              <a:pPr/>
              <a:t>23-03-2026</a:t>
            </a:fld>
            <a:endParaRPr lang="en-IN"/>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5</a:t>
            </a:fld>
            <a:endParaRPr lang="en-IN"/>
          </a:p>
        </p:txBody>
      </p:sp>
      <p:sp>
        <p:nvSpPr>
          <p:cNvPr id="6" name="Title 3">
            <a:extLst>
              <a:ext uri="{FF2B5EF4-FFF2-40B4-BE49-F238E27FC236}">
                <a16:creationId xmlns:a16="http://schemas.microsoft.com/office/drawing/2014/main" id="{953E6E58-92B6-AE64-11B1-11F45C9658F4}"/>
              </a:ext>
            </a:extLst>
          </p:cNvPr>
          <p:cNvSpPr>
            <a:spLocks noGrp="1"/>
          </p:cNvSpPr>
          <p:nvPr>
            <p:ph idx="1"/>
          </p:nvPr>
        </p:nvSpPr>
        <p:spPr>
          <a:xfrm>
            <a:off x="383457" y="1095494"/>
            <a:ext cx="11346427" cy="5177487"/>
          </a:xfrm>
        </p:spPr>
        <p:txBody>
          <a:bodyPr>
            <a:normAutofit fontScale="92500"/>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In disaster rescue environments, conventional communication infrastructure often fails, necessitating the use of Mobile Ad Hoc Networks (MANETs) for emergency coordination. Although the Ad hoc On-Demand Distance Vector (AODV) protocol is widely used due to its on-demand routing capability, it suffers from slow route discovery, frequent link failures, and unstable clustering under high node mobility. These issues result in increased end-to-end delay, packet loss, and routing overhead  To address these limitations, this project proposes a </a:t>
            </a:r>
            <a:r>
              <a:rPr lang="en-US" b="1" dirty="0">
                <a:latin typeface="Times New Roman" panose="02020603050405020304" pitchFamily="18" charset="0"/>
                <a:cs typeface="Times New Roman" panose="02020603050405020304" pitchFamily="18" charset="0"/>
              </a:rPr>
              <a:t>Cloud Assisted Fast Route Discovery mechanism</a:t>
            </a:r>
            <a:r>
              <a:rPr lang="en-US" dirty="0">
                <a:latin typeface="Times New Roman" panose="02020603050405020304" pitchFamily="18" charset="0"/>
                <a:cs typeface="Times New Roman" panose="02020603050405020304" pitchFamily="18" charset="0"/>
              </a:rPr>
              <a:t> integrated with AODV.</a:t>
            </a:r>
            <a:endParaRPr lang="en-IN" dirty="0"/>
          </a:p>
        </p:txBody>
      </p:sp>
    </p:spTree>
    <p:extLst>
      <p:ext uri="{BB962C8B-B14F-4D97-AF65-F5344CB8AC3E}">
        <p14:creationId xmlns:p14="http://schemas.microsoft.com/office/powerpoint/2010/main" val="1287536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fld id="{D121BCBC-AF21-480F-8C1A-83C58722766A}" type="datetime1">
              <a:rPr lang="en-IN" smtClean="0"/>
              <a:pPr/>
              <a:t>23-03-2026</a:t>
            </a:fld>
            <a:endParaRPr lang="en-IN"/>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6</a:t>
            </a:fld>
            <a:endParaRPr lang="en-IN"/>
          </a:p>
        </p:txBody>
      </p:sp>
      <p:sp>
        <p:nvSpPr>
          <p:cNvPr id="6" name="Rectangle 1">
            <a:extLst>
              <a:ext uri="{FF2B5EF4-FFF2-40B4-BE49-F238E27FC236}">
                <a16:creationId xmlns:a16="http://schemas.microsoft.com/office/drawing/2014/main" id="{3CF221FE-BBCA-856A-877D-A98936A23BD1}"/>
              </a:ext>
            </a:extLst>
          </p:cNvPr>
          <p:cNvSpPr>
            <a:spLocks noChangeArrowheads="1"/>
          </p:cNvSpPr>
          <p:nvPr/>
        </p:nvSpPr>
        <p:spPr bwMode="auto">
          <a:xfrm>
            <a:off x="146180" y="1030709"/>
            <a:ext cx="1179700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Title 15">
            <a:extLst>
              <a:ext uri="{FF2B5EF4-FFF2-40B4-BE49-F238E27FC236}">
                <a16:creationId xmlns:a16="http://schemas.microsoft.com/office/drawing/2014/main" id="{F55E4690-2AD5-2238-3558-986F71CCDD74}"/>
              </a:ext>
            </a:extLst>
          </p:cNvPr>
          <p:cNvSpPr>
            <a:spLocks noGrp="1"/>
          </p:cNvSpPr>
          <p:nvPr>
            <p:ph type="title"/>
          </p:nvPr>
        </p:nvSpPr>
        <p:spPr>
          <a:xfrm>
            <a:off x="0" y="0"/>
            <a:ext cx="12191998" cy="1200329"/>
          </a:xfrm>
        </p:spPr>
        <p:txBody>
          <a:bodyPr>
            <a:normAutofit/>
          </a:bodyPr>
          <a:lstStyle/>
          <a:p>
            <a:pPr algn="ctr"/>
            <a:r>
              <a:rPr lang="en-US" sz="3600" b="1" dirty="0">
                <a:latin typeface="Times New Roman" panose="02020603050405020304" pitchFamily="18" charset="0"/>
                <a:cs typeface="Times New Roman" panose="02020603050405020304" pitchFamily="18" charset="0"/>
              </a:rPr>
              <a:t>INTRODUCTION</a:t>
            </a:r>
            <a:endParaRPr lang="en-IN" sz="3600" b="1" dirty="0">
              <a:latin typeface="Times New Roman" panose="02020603050405020304" pitchFamily="18" charset="0"/>
              <a:cs typeface="Times New Roman" panose="02020603050405020304" pitchFamily="18" charset="0"/>
            </a:endParaRPr>
          </a:p>
        </p:txBody>
      </p:sp>
      <p:sp>
        <p:nvSpPr>
          <p:cNvPr id="19" name="Rectangle 5">
            <a:extLst>
              <a:ext uri="{FF2B5EF4-FFF2-40B4-BE49-F238E27FC236}">
                <a16:creationId xmlns:a16="http://schemas.microsoft.com/office/drawing/2014/main" id="{B205F7C6-0C0A-959E-79B6-EFF0A02385B6}"/>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0" name="Rectangle 6">
            <a:extLst>
              <a:ext uri="{FF2B5EF4-FFF2-40B4-BE49-F238E27FC236}">
                <a16:creationId xmlns:a16="http://schemas.microsoft.com/office/drawing/2014/main" id="{BE982CF1-8F43-4A31-E9D3-CC7347D7B5D5}"/>
              </a:ext>
            </a:extLst>
          </p:cNvPr>
          <p:cNvSpPr>
            <a:spLocks noGrp="1" noChangeArrowheads="1"/>
          </p:cNvSpPr>
          <p:nvPr>
            <p:ph idx="1"/>
          </p:nvPr>
        </p:nvSpPr>
        <p:spPr bwMode="auto">
          <a:xfrm>
            <a:off x="264815" y="1148021"/>
            <a:ext cx="11571919"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During natural disasters such as earthquakes, floods, and cyclones, communication systems like mobile networks often fail.</a:t>
            </a:r>
          </a:p>
          <a:p>
            <a:pPr lvl="0" algn="just" eaLnBrk="0" fontAlgn="base" hangingPunct="0">
              <a:lnSpc>
                <a:spcPct val="100000"/>
              </a:lnSpc>
              <a:spcBef>
                <a:spcPct val="0"/>
              </a:spcBef>
              <a:spcAft>
                <a:spcPct val="0"/>
              </a:spcAft>
              <a:buFont typeface="Wingdings" panose="05000000000000000000" pitchFamily="2" charset="2"/>
              <a:buChar char="v"/>
            </a:pPr>
            <a:endParaRPr lang="en-US" altLang="en-US" dirty="0">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This happens due to damaged towers, power failures, and network   congestion.</a:t>
            </a:r>
          </a:p>
          <a:p>
            <a:pPr marL="0" lvl="0" indent="0" algn="just" eaLnBrk="0" fontAlgn="base" hangingPunct="0">
              <a:lnSpc>
                <a:spcPct val="100000"/>
              </a:lnSpc>
              <a:spcBef>
                <a:spcPct val="0"/>
              </a:spcBef>
              <a:spcAft>
                <a:spcPct val="0"/>
              </a:spcAft>
              <a:buNone/>
            </a:pPr>
            <a:endParaRPr lang="en-US" altLang="en-US" dirty="0">
              <a:latin typeface="Times New Roman" panose="02020603050405020304" pitchFamily="18" charset="0"/>
              <a:cs typeface="Times New Roman" panose="02020603050405020304" pitchFamily="18" charset="0"/>
            </a:endParaRPr>
          </a:p>
          <a:p>
            <a:pPr lvl="0" algn="just" eaLnBrk="0" fontAlgn="base" hangingPunct="0">
              <a:lnSpc>
                <a:spcPct val="100000"/>
              </a:lnSpc>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 Because of this, rescue teams cannot communicate properly. </a:t>
            </a:r>
          </a:p>
          <a:p>
            <a:pPr lvl="0" algn="just" eaLnBrk="0" fontAlgn="base" hangingPunct="0">
              <a:lnSpc>
                <a:spcPct val="100000"/>
              </a:lnSpc>
              <a:spcBef>
                <a:spcPct val="0"/>
              </a:spcBef>
              <a:spcAft>
                <a:spcPct val="0"/>
              </a:spcAft>
              <a:buFont typeface="Wingdings" panose="05000000000000000000" pitchFamily="2" charset="2"/>
              <a:buChar char="Ø"/>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just" eaLnBrk="0" fontAlgn="base" hangingPunct="0">
              <a:lnSpc>
                <a:spcPct val="100000"/>
              </a:lnSpc>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 They sometimes depend on paper records or verbal messages, which are slow and can cause errors.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1" name="Rectangle 7">
            <a:extLst>
              <a:ext uri="{FF2B5EF4-FFF2-40B4-BE49-F238E27FC236}">
                <a16:creationId xmlns:a16="http://schemas.microsoft.com/office/drawing/2014/main" id="{465D8A2E-1570-1C53-DC74-89B9D674160A}"/>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459879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22310"/>
          </a:xfrm>
        </p:spPr>
        <p:txBody>
          <a:bodyPr/>
          <a:lstStyle/>
          <a:p>
            <a:pPr algn="ctr"/>
            <a:r>
              <a:rPr lang="en-IN" sz="3600"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102637" y="914400"/>
            <a:ext cx="11999167" cy="5262563"/>
          </a:xfrm>
        </p:spPr>
        <p:txBody>
          <a:bodyPr>
            <a:normAutofit lnSpcReduction="10000"/>
          </a:bodyPr>
          <a:lstStyle/>
          <a:p>
            <a:pPr algn="just" eaLnBrk="0" fontAlgn="base" hangingPunct="0">
              <a:lnSpc>
                <a:spcPct val="100000"/>
              </a:lnSpc>
              <a:spcBef>
                <a:spcPct val="20000"/>
              </a:spcBef>
              <a:spcAft>
                <a:spcPct val="0"/>
              </a:spcAft>
              <a:buClr>
                <a:srgbClr val="00007D"/>
              </a:buClr>
              <a:buSzPct val="7500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Manual System:</a:t>
            </a:r>
            <a:r>
              <a:rPr lang="en-US" dirty="0">
                <a:latin typeface="Times New Roman" panose="02020603050405020304" pitchFamily="18" charset="0"/>
                <a:cs typeface="Times New Roman" panose="02020603050405020304" pitchFamily="18" charset="0"/>
              </a:rPr>
              <a:t> Uses paper records and verbal messages; slow, error-prone, and unsuitable for real-time disaster response.</a:t>
            </a:r>
          </a:p>
          <a:p>
            <a:pPr marL="0" indent="0" algn="just" eaLnBrk="0" fontAlgn="base" hangingPunct="0">
              <a:lnSpc>
                <a:spcPct val="100000"/>
              </a:lnSpc>
              <a:spcBef>
                <a:spcPct val="20000"/>
              </a:spcBef>
              <a:spcAft>
                <a:spcPct val="0"/>
              </a:spcAft>
              <a:buClr>
                <a:srgbClr val="00007D"/>
              </a:buClr>
              <a:buSzPct val="75000"/>
              <a:buNone/>
            </a:pPr>
            <a:endParaRPr lang="en-US" dirty="0">
              <a:latin typeface="Times New Roman" panose="02020603050405020304" pitchFamily="18" charset="0"/>
              <a:cs typeface="Times New Roman" panose="02020603050405020304" pitchFamily="18" charset="0"/>
            </a:endParaRPr>
          </a:p>
          <a:p>
            <a:pPr algn="just" eaLnBrk="0" fontAlgn="base" hangingPunct="0">
              <a:lnSpc>
                <a:spcPct val="100000"/>
              </a:lnSpc>
              <a:spcBef>
                <a:spcPct val="20000"/>
              </a:spcBef>
              <a:spcAft>
                <a:spcPct val="0"/>
              </a:spcAft>
              <a:buClr>
                <a:srgbClr val="00007D"/>
              </a:buClr>
              <a:buSzPct val="7500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Infrastructure-Based Cellular System:</a:t>
            </a:r>
            <a:r>
              <a:rPr lang="en-US" dirty="0">
                <a:latin typeface="Times New Roman" panose="02020603050405020304" pitchFamily="18" charset="0"/>
                <a:cs typeface="Times New Roman" panose="02020603050405020304" pitchFamily="18" charset="0"/>
              </a:rPr>
              <a:t> Relies on cell towers and base stations; infrastructure damage causes network failure during disasters</a:t>
            </a:r>
            <a:r>
              <a:rPr lang="en-US" dirty="0"/>
              <a:t>.</a:t>
            </a:r>
          </a:p>
          <a:p>
            <a:pPr algn="just" eaLnBrk="0" fontAlgn="base" hangingPunct="0">
              <a:lnSpc>
                <a:spcPct val="100000"/>
              </a:lnSpc>
              <a:spcBef>
                <a:spcPct val="20000"/>
              </a:spcBef>
              <a:spcAft>
                <a:spcPct val="0"/>
              </a:spcAft>
              <a:buClr>
                <a:srgbClr val="00007D"/>
              </a:buClr>
              <a:buSzPct val="75000"/>
              <a:buFont typeface="Wingdings" panose="05000000000000000000" pitchFamily="2" charset="2"/>
              <a:buChar char="v"/>
            </a:pPr>
            <a:endParaRPr lang="en-US" dirty="0"/>
          </a:p>
          <a:p>
            <a:pPr algn="just" eaLnBrk="0" fontAlgn="base" hangingPunct="0">
              <a:lnSpc>
                <a:spcPct val="100000"/>
              </a:lnSpc>
              <a:spcBef>
                <a:spcPct val="20000"/>
              </a:spcBef>
              <a:spcAft>
                <a:spcPct val="0"/>
              </a:spcAft>
              <a:buClr>
                <a:srgbClr val="00007D"/>
              </a:buClr>
              <a:buSzPct val="75000"/>
              <a:buFont typeface="Wingdings" panose="05000000000000000000" pitchFamily="2" charset="2"/>
              <a:buChar char="Ø"/>
            </a:pPr>
            <a:r>
              <a:rPr lang="en-US" b="1" dirty="0">
                <a:latin typeface="Times New Roman" panose="02020603050405020304" pitchFamily="18" charset="0"/>
                <a:cs typeface="Times New Roman" pitchFamily="18" charset="0"/>
              </a:rPr>
              <a:t>Relay-Based Communication </a:t>
            </a:r>
            <a:r>
              <a:rPr lang="en-US" b="1" dirty="0" err="1">
                <a:latin typeface="Times New Roman" panose="02020603050405020304" pitchFamily="18" charset="0"/>
                <a:cs typeface="Times New Roman" pitchFamily="18" charset="0"/>
              </a:rPr>
              <a:t>System:</a:t>
            </a:r>
            <a:r>
              <a:rPr lang="en-US" dirty="0" err="1">
                <a:latin typeface="Times New Roman" panose="02020603050405020304" pitchFamily="18" charset="0"/>
                <a:cs typeface="Times New Roman" pitchFamily="18" charset="0"/>
              </a:rPr>
              <a:t>Messages</a:t>
            </a:r>
            <a:r>
              <a:rPr lang="en-US" dirty="0">
                <a:latin typeface="Times New Roman" panose="02020603050405020304" pitchFamily="18" charset="0"/>
                <a:cs typeface="Times New Roman" pitchFamily="18" charset="0"/>
              </a:rPr>
              <a:t> are passed through </a:t>
            </a:r>
            <a:r>
              <a:rPr lang="en-US" dirty="0" err="1">
                <a:latin typeface="Times New Roman" panose="02020603050405020304" pitchFamily="18" charset="0"/>
                <a:cs typeface="Times New Roman" pitchFamily="18" charset="0"/>
              </a:rPr>
              <a:t>intermidate</a:t>
            </a:r>
            <a:r>
              <a:rPr lang="en-US" dirty="0">
                <a:latin typeface="Times New Roman" panose="02020603050405020304" pitchFamily="18" charset="0"/>
                <a:cs typeface="Times New Roman" pitchFamily="18" charset="0"/>
              </a:rPr>
              <a:t> nodes or people one by one until it reaches the destination.</a:t>
            </a:r>
          </a:p>
          <a:p>
            <a:pPr algn="just" eaLnBrk="0" fontAlgn="base" hangingPunct="0">
              <a:lnSpc>
                <a:spcPct val="100000"/>
              </a:lnSpc>
              <a:spcBef>
                <a:spcPct val="20000"/>
              </a:spcBef>
              <a:spcAft>
                <a:spcPct val="0"/>
              </a:spcAft>
              <a:buClr>
                <a:srgbClr val="00007D"/>
              </a:buClr>
              <a:buSzPct val="75000"/>
              <a:buFont typeface="Wingdings" panose="05000000000000000000" pitchFamily="2" charset="2"/>
              <a:buChar char="v"/>
            </a:pPr>
            <a:endParaRPr lang="en-US" dirty="0">
              <a:latin typeface="Times New Roman" panose="02020603050405020304" pitchFamily="18" charset="0"/>
              <a:cs typeface="Times New Roman" pitchFamily="18" charset="0"/>
            </a:endParaRPr>
          </a:p>
          <a:p>
            <a:pPr algn="just" eaLnBrk="0" fontAlgn="base" hangingPunct="0">
              <a:lnSpc>
                <a:spcPct val="100000"/>
              </a:lnSpc>
              <a:spcBef>
                <a:spcPct val="20000"/>
              </a:spcBef>
              <a:spcAft>
                <a:spcPct val="0"/>
              </a:spcAft>
              <a:buClr>
                <a:srgbClr val="00007D"/>
              </a:buClr>
              <a:buSzPct val="75000"/>
              <a:buFont typeface="Wingdings" panose="05000000000000000000" pitchFamily="2" charset="2"/>
              <a:buChar char="Ø"/>
            </a:pPr>
            <a:r>
              <a:rPr lang="en-US" dirty="0">
                <a:latin typeface="Times New Roman" panose="02020603050405020304" pitchFamily="18" charset="0"/>
                <a:cs typeface="Times New Roman" pitchFamily="18" charset="0"/>
              </a:rPr>
              <a:t>Routing algorithms like AODV and DSDV overcome the limitations of traditional systems by enabling efficient , reliable.</a:t>
            </a:r>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fld id="{D121BCBC-AF21-480F-8C1A-83C58722766A}" type="datetime1">
              <a:rPr lang="en-IN" smtClean="0"/>
              <a:pPr/>
              <a:t>23-03-2026</a:t>
            </a:fld>
            <a:endParaRPr lang="en-IN"/>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7</a:t>
            </a:fld>
            <a:endParaRPr lang="en-IN"/>
          </a:p>
        </p:txBody>
      </p:sp>
    </p:spTree>
    <p:extLst>
      <p:ext uri="{BB962C8B-B14F-4D97-AF65-F5344CB8AC3E}">
        <p14:creationId xmlns:p14="http://schemas.microsoft.com/office/powerpoint/2010/main" val="590321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US" sz="3600" b="1" dirty="0">
                <a:latin typeface="Times New Roman" panose="02020603050405020304" pitchFamily="18" charset="0"/>
                <a:cs typeface="Times New Roman" panose="02020603050405020304" pitchFamily="18" charset="0"/>
              </a:rPr>
              <a:t>L</a:t>
            </a:r>
            <a:r>
              <a:rPr lang="en-IN" sz="3600" b="1" dirty="0">
                <a:latin typeface="Times New Roman" panose="02020603050405020304" pitchFamily="18" charset="0"/>
                <a:cs typeface="Times New Roman" panose="02020603050405020304" pitchFamily="18" charset="0"/>
              </a:rPr>
              <a:t>ITERATURE SURVEY</a:t>
            </a:r>
            <a:endParaRPr lang="en-IN"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fld id="{D121BCBC-AF21-480F-8C1A-83C58722766A}" type="datetime1">
              <a:rPr lang="en-IN" smtClean="0"/>
              <a:pPr/>
              <a:t>23-03-2026</a:t>
            </a:fld>
            <a:endParaRPr lang="en-IN"/>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8</a:t>
            </a:fld>
            <a:endParaRPr lang="en-IN"/>
          </a:p>
        </p:txBody>
      </p:sp>
      <p:sp>
        <p:nvSpPr>
          <p:cNvPr id="7" name="Content Placeholder 6">
            <a:extLst>
              <a:ext uri="{FF2B5EF4-FFF2-40B4-BE49-F238E27FC236}">
                <a16:creationId xmlns:a16="http://schemas.microsoft.com/office/drawing/2014/main" id="{2CE2C495-DA42-D8AD-0512-7F961342FF0E}"/>
              </a:ext>
            </a:extLst>
          </p:cNvPr>
          <p:cNvSpPr>
            <a:spLocks noGrp="1"/>
          </p:cNvSpPr>
          <p:nvPr>
            <p:ph idx="1"/>
          </p:nvPr>
        </p:nvSpPr>
        <p:spPr>
          <a:xfrm>
            <a:off x="578498" y="1138335"/>
            <a:ext cx="10994070" cy="5026491"/>
          </a:xfrm>
        </p:spPr>
        <p:txBody>
          <a:bodyPr>
            <a:normAutofit fontScale="92500"/>
          </a:bodyPr>
          <a:lstStyle/>
          <a:p>
            <a:pPr marL="0" indent="0" algn="just">
              <a:buNone/>
            </a:pPr>
            <a:r>
              <a:rPr lang="en-IN" dirty="0">
                <a:latin typeface="Times New Roman" panose="02020603050405020304" pitchFamily="18" charset="0"/>
                <a:cs typeface="Times New Roman" panose="02020603050405020304" pitchFamily="18" charset="0"/>
              </a:rPr>
              <a:t>[1]</a:t>
            </a:r>
            <a:r>
              <a:rPr lang="en-IN" b="1"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Zhao Y. </a:t>
            </a:r>
            <a:r>
              <a:rPr lang="en-US" sz="2600" dirty="0">
                <a:latin typeface="Times New Roman" panose="02020603050405020304" pitchFamily="18" charset="0"/>
                <a:cs typeface="Times New Roman" panose="02020603050405020304" pitchFamily="18" charset="0"/>
              </a:rPr>
              <a:t>Research on multi hop transmission optimization technology in mobile Ad Hoc networks [D]. Electronic Science Research Institute of China Electronics Technology Corporation, 2022.</a:t>
            </a:r>
          </a:p>
          <a:p>
            <a:pPr marL="0" indent="0" algn="just">
              <a:buNone/>
            </a:pPr>
            <a:r>
              <a:rPr lang="en-IN" sz="26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Zhu X.</a:t>
            </a:r>
            <a:r>
              <a:rPr lang="en-US" sz="2600" dirty="0">
                <a:latin typeface="Times New Roman" panose="02020603050405020304" pitchFamily="18" charset="0"/>
                <a:cs typeface="Times New Roman" panose="02020603050405020304" pitchFamily="18" charset="0"/>
              </a:rPr>
              <a:t> Research on routing algorithm of wireless Ad Hoc networks in disaster rescue scenarios [D]. Chongqing University of Posts and Telecommunications, 2018.</a:t>
            </a:r>
            <a:endParaRPr lang="en-IN" sz="2600" dirty="0">
              <a:latin typeface="Times New Roman" panose="02020603050405020304" pitchFamily="18" charset="0"/>
              <a:cs typeface="Times New Roman" panose="02020603050405020304" pitchFamily="18" charset="0"/>
            </a:endParaRPr>
          </a:p>
          <a:p>
            <a:pPr marL="0" indent="0" algn="just">
              <a:buNone/>
            </a:pPr>
            <a:r>
              <a:rPr lang="en-IN" sz="2600" dirty="0">
                <a:latin typeface="Times New Roman" panose="02020603050405020304" pitchFamily="18" charset="0"/>
                <a:cs typeface="Times New Roman" panose="02020603050405020304" pitchFamily="18" charset="0"/>
              </a:rPr>
              <a:t>[3</a:t>
            </a:r>
            <a:r>
              <a:rPr lang="en-IN" sz="2600" b="1"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An J. </a:t>
            </a:r>
            <a:r>
              <a:rPr lang="en-US" sz="2600" dirty="0">
                <a:latin typeface="Times New Roman" panose="02020603050405020304" pitchFamily="18" charset="0"/>
                <a:cs typeface="Times New Roman" panose="02020603050405020304" pitchFamily="18" charset="0"/>
              </a:rPr>
              <a:t>Research on Improvement of Low overhead AODV Routing Algorithm in Mobile Ad Hoc Networks[D]. Tianjin University of Technology, 2017.</a:t>
            </a:r>
          </a:p>
          <a:p>
            <a:pPr marL="0" indent="0" algn="just">
              <a:buNone/>
            </a:pPr>
            <a:r>
              <a:rPr lang="en-IN" sz="2600" dirty="0">
                <a:latin typeface="Times New Roman" panose="02020603050405020304" pitchFamily="18" charset="0"/>
                <a:cs typeface="Times New Roman" panose="02020603050405020304" pitchFamily="18" charset="0"/>
              </a:rPr>
              <a:t>[4]</a:t>
            </a:r>
            <a:r>
              <a:rPr lang="en-IN" sz="2600" b="1" dirty="0">
                <a:latin typeface="Times New Roman" panose="02020603050405020304" pitchFamily="18" charset="0"/>
                <a:cs typeface="Times New Roman" panose="02020603050405020304" pitchFamily="18" charset="0"/>
              </a:rPr>
              <a:t>S. Misra, S. Chatterjee, and M. S. Obaidat</a:t>
            </a:r>
            <a:r>
              <a:rPr lang="en-IN" sz="2600" dirty="0">
                <a:latin typeface="Times New Roman" panose="02020603050405020304" pitchFamily="18" charset="0"/>
                <a:cs typeface="Times New Roman" panose="02020603050405020304" pitchFamily="18" charset="0"/>
              </a:rPr>
              <a:t>, “On Theoretical </a:t>
            </a:r>
            <a:r>
              <a:rPr lang="en-IN" sz="2600" dirty="0" err="1">
                <a:latin typeface="Times New Roman" panose="02020603050405020304" pitchFamily="18" charset="0"/>
                <a:cs typeface="Times New Roman" panose="02020603050405020304" pitchFamily="18" charset="0"/>
              </a:rPr>
              <a:t>Modeling</a:t>
            </a:r>
            <a:r>
              <a:rPr lang="en-IN" sz="2600" dirty="0">
                <a:latin typeface="Times New Roman" panose="02020603050405020304" pitchFamily="18" charset="0"/>
                <a:cs typeface="Times New Roman" panose="02020603050405020304" pitchFamily="18" charset="0"/>
              </a:rPr>
              <a:t> of Cloud-Assisted Routing in Mobile Ad Hoc Networks,” IEEE Systems Journal, vol. 10, no. 2, pp. 706–717, June 2016.</a:t>
            </a:r>
          </a:p>
          <a:p>
            <a:pPr marL="0" indent="0" algn="just">
              <a:buNone/>
            </a:pPr>
            <a:r>
              <a:rPr lang="en-IN" sz="2600" dirty="0">
                <a:latin typeface="Times New Roman" panose="02020603050405020304" pitchFamily="18" charset="0"/>
                <a:cs typeface="Times New Roman" panose="02020603050405020304" pitchFamily="18" charset="0"/>
              </a:rPr>
              <a:t>[5]</a:t>
            </a:r>
            <a:r>
              <a:rPr lang="en-IN" sz="2600" b="1" dirty="0">
                <a:latin typeface="Times New Roman" panose="02020603050405020304" pitchFamily="18" charset="0"/>
                <a:cs typeface="Times New Roman" panose="02020603050405020304" pitchFamily="18" charset="0"/>
              </a:rPr>
              <a:t>A. </a:t>
            </a:r>
            <a:r>
              <a:rPr lang="en-IN" sz="2600" b="1" dirty="0" err="1">
                <a:latin typeface="Times New Roman" panose="02020603050405020304" pitchFamily="18" charset="0"/>
                <a:cs typeface="Times New Roman" panose="02020603050405020304" pitchFamily="18" charset="0"/>
              </a:rPr>
              <a:t>Boukerche</a:t>
            </a:r>
            <a:r>
              <a:rPr lang="en-IN" sz="2600" b="1" dirty="0">
                <a:latin typeface="Times New Roman" panose="02020603050405020304" pitchFamily="18" charset="0"/>
                <a:cs typeface="Times New Roman" panose="02020603050405020304" pitchFamily="18" charset="0"/>
              </a:rPr>
              <a:t>, B. Turgut, N. Aydin, M. Z. Ahmad, L. Bölöni, and D. Turgut</a:t>
            </a:r>
            <a:r>
              <a:rPr lang="en-IN" sz="2600" dirty="0">
                <a:latin typeface="Times New Roman" panose="02020603050405020304" pitchFamily="18" charset="0"/>
                <a:cs typeface="Times New Roman" panose="02020603050405020304" pitchFamily="18" charset="0"/>
              </a:rPr>
              <a:t>, “Routing protocols in ad hoc networks: A survey,” Computer Networks, vol. 55, no. 13, pp. 3032–3080, Sept. 2011.</a:t>
            </a:r>
          </a:p>
        </p:txBody>
      </p:sp>
    </p:spTree>
    <p:extLst>
      <p:ext uri="{BB962C8B-B14F-4D97-AF65-F5344CB8AC3E}">
        <p14:creationId xmlns:p14="http://schemas.microsoft.com/office/powerpoint/2010/main" val="23744016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90A05C-112B-8558-F7CD-2BFB3481A370}"/>
              </a:ext>
            </a:extLst>
          </p:cNvPr>
          <p:cNvSpPr>
            <a:spLocks noGrp="1"/>
          </p:cNvSpPr>
          <p:nvPr>
            <p:ph type="dt" sz="half" idx="10"/>
          </p:nvPr>
        </p:nvSpPr>
        <p:spPr/>
        <p:txBody>
          <a:bodyPr/>
          <a:lstStyle/>
          <a:p>
            <a:fld id="{A18A7FA7-F693-4DFB-AEDA-FE633EEC95AF}" type="datetime1">
              <a:rPr lang="en-IN" smtClean="0"/>
              <a:pPr/>
              <a:t>23-03-2026</a:t>
            </a:fld>
            <a:endParaRPr lang="en-IN"/>
          </a:p>
        </p:txBody>
      </p:sp>
      <p:sp>
        <p:nvSpPr>
          <p:cNvPr id="3" name="Slide Number Placeholder 2">
            <a:extLst>
              <a:ext uri="{FF2B5EF4-FFF2-40B4-BE49-F238E27FC236}">
                <a16:creationId xmlns:a16="http://schemas.microsoft.com/office/drawing/2014/main" id="{3A09BDC1-2647-9B19-D4CA-D6B157A751F7}"/>
              </a:ext>
            </a:extLst>
          </p:cNvPr>
          <p:cNvSpPr>
            <a:spLocks noGrp="1"/>
          </p:cNvSpPr>
          <p:nvPr>
            <p:ph type="sldNum" sz="quarter" idx="12"/>
          </p:nvPr>
        </p:nvSpPr>
        <p:spPr/>
        <p:txBody>
          <a:bodyPr/>
          <a:lstStyle/>
          <a:p>
            <a:fld id="{A0183BA4-7B10-4BE3-A0B2-A48721054ED6}" type="slidenum">
              <a:rPr lang="en-IN" smtClean="0"/>
              <a:pPr/>
              <a:t>9</a:t>
            </a:fld>
            <a:endParaRPr lang="en-IN"/>
          </a:p>
        </p:txBody>
      </p:sp>
      <p:sp>
        <p:nvSpPr>
          <p:cNvPr id="4" name="TextBox 3">
            <a:extLst>
              <a:ext uri="{FF2B5EF4-FFF2-40B4-BE49-F238E27FC236}">
                <a16:creationId xmlns:a16="http://schemas.microsoft.com/office/drawing/2014/main" id="{15A083E6-46C3-FE9A-A819-B0D985EC9258}"/>
              </a:ext>
            </a:extLst>
          </p:cNvPr>
          <p:cNvSpPr txBox="1"/>
          <p:nvPr/>
        </p:nvSpPr>
        <p:spPr>
          <a:xfrm>
            <a:off x="353960" y="294969"/>
            <a:ext cx="11493911" cy="6341805"/>
          </a:xfrm>
          <a:prstGeom prst="rect">
            <a:avLst/>
          </a:prstGeom>
          <a:noFill/>
        </p:spPr>
        <p:txBody>
          <a:bodyPr wrap="square" rtlCol="0">
            <a:spAutoFit/>
          </a:bodyPr>
          <a:lstStyle/>
          <a:p>
            <a:pPr algn="just"/>
            <a:r>
              <a:rPr lang="en-IN" sz="2400" dirty="0">
                <a:latin typeface="Times New Roman" panose="02020603050405020304" pitchFamily="18" charset="0"/>
                <a:cs typeface="Times New Roman" panose="02020603050405020304" pitchFamily="18" charset="0"/>
              </a:rPr>
              <a:t>[6] </a:t>
            </a:r>
            <a:r>
              <a:rPr lang="en-IN" sz="2400" b="1" dirty="0">
                <a:latin typeface="Times New Roman" panose="02020603050405020304" pitchFamily="18" charset="0"/>
                <a:cs typeface="Times New Roman" panose="02020603050405020304" pitchFamily="18" charset="0"/>
              </a:rPr>
              <a:t>S. K. Dhurandher, M. S. Obaidat, and I. </a:t>
            </a:r>
            <a:r>
              <a:rPr lang="en-IN" sz="2400" b="1" dirty="0" err="1">
                <a:latin typeface="Times New Roman" panose="02020603050405020304" pitchFamily="18" charset="0"/>
                <a:cs typeface="Times New Roman" panose="02020603050405020304" pitchFamily="18" charset="0"/>
              </a:rPr>
              <a:t>Woungang</a:t>
            </a:r>
            <a:r>
              <a:rPr lang="en-IN" sz="2400" dirty="0">
                <a:latin typeface="Times New Roman" panose="02020603050405020304" pitchFamily="18" charset="0"/>
                <a:cs typeface="Times New Roman" panose="02020603050405020304" pitchFamily="18" charset="0"/>
              </a:rPr>
              <a:t>, “Cluster-Based Routing Protocols for Disaster Recovery Networks,” International Journal of Communication Systems, vol. 27, no. 12, pp. 3919–3942, Dec. 2014.</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[7] </a:t>
            </a:r>
            <a:r>
              <a:rPr lang="en-IN" sz="2400" b="1" dirty="0">
                <a:latin typeface="Times New Roman" panose="02020603050405020304" pitchFamily="18" charset="0"/>
                <a:cs typeface="Times New Roman" panose="02020603050405020304" pitchFamily="18" charset="0"/>
              </a:rPr>
              <a:t>J. Lloret, M. Garcia, D. Bri, and S. Sendra</a:t>
            </a:r>
            <a:r>
              <a:rPr lang="en-IN" sz="2400" dirty="0">
                <a:latin typeface="Times New Roman" panose="02020603050405020304" pitchFamily="18" charset="0"/>
                <a:cs typeface="Times New Roman" panose="02020603050405020304" pitchFamily="18" charset="0"/>
              </a:rPr>
              <a:t>, “A Wireless Sensor Network Deployment for Rural and Forest Fire Detection and Verification,” Sensors, vol. 9, no. 11, pp. 8722–8747, Nov. 2009.</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[8]</a:t>
            </a:r>
            <a:r>
              <a:rPr lang="en-IN" sz="2400" b="1" dirty="0">
                <a:latin typeface="Times New Roman" panose="02020603050405020304" pitchFamily="18" charset="0"/>
                <a:cs typeface="Times New Roman" panose="02020603050405020304" pitchFamily="18" charset="0"/>
              </a:rPr>
              <a:t>Y. Zeng, K. Xiang, D. Li, and A. V. Vasilakos</a:t>
            </a:r>
            <a:r>
              <a:rPr lang="en-IN" sz="2400" dirty="0">
                <a:latin typeface="Times New Roman" panose="02020603050405020304" pitchFamily="18" charset="0"/>
                <a:cs typeface="Times New Roman" panose="02020603050405020304" pitchFamily="18" charset="0"/>
              </a:rPr>
              <a:t>, “Directional Routing and Scheduling for Green Vehicular Networks,” Wireless Networks, vol. 19, no. 2, pp. 161–173, Feb. 2013.</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[9]</a:t>
            </a:r>
            <a:r>
              <a:rPr lang="en-IN" sz="2400" b="1" dirty="0">
                <a:latin typeface="Times New Roman" panose="02020603050405020304" pitchFamily="18" charset="0"/>
                <a:cs typeface="Times New Roman" panose="02020603050405020304" pitchFamily="18" charset="0"/>
              </a:rPr>
              <a:t>H. Zhou, H. Wang, and X. Li</a:t>
            </a:r>
            <a:r>
              <a:rPr lang="en-IN" sz="2400" dirty="0">
                <a:latin typeface="Times New Roman" panose="02020603050405020304" pitchFamily="18" charset="0"/>
                <a:cs typeface="Times New Roman" panose="02020603050405020304" pitchFamily="18" charset="0"/>
              </a:rPr>
              <a:t>, “Cloud-assisted Emergency Communication System for Disaster Rescue,” IEEE Communications Magazine, vol. 55, no. 8, pp. 70–76, Aug. 2017.</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[10]</a:t>
            </a:r>
            <a:r>
              <a:rPr lang="en-IN" sz="2400" b="1" dirty="0">
                <a:latin typeface="Times New Roman" panose="02020603050405020304" pitchFamily="18" charset="0"/>
                <a:cs typeface="Times New Roman" panose="02020603050405020304" pitchFamily="18" charset="0"/>
              </a:rPr>
              <a:t>S. K. Sarkar and T. G. </a:t>
            </a:r>
            <a:r>
              <a:rPr lang="en-IN" sz="2400" b="1" dirty="0" err="1">
                <a:latin typeface="Times New Roman" panose="02020603050405020304" pitchFamily="18" charset="0"/>
                <a:cs typeface="Times New Roman" panose="02020603050405020304" pitchFamily="18" charset="0"/>
              </a:rPr>
              <a:t>Basavaraju</a:t>
            </a:r>
            <a:r>
              <a:rPr lang="en-IN" sz="2400" dirty="0">
                <a:latin typeface="Times New Roman" panose="02020603050405020304" pitchFamily="18" charset="0"/>
                <a:cs typeface="Times New Roman" panose="02020603050405020304" pitchFamily="18" charset="0"/>
              </a:rPr>
              <a:t>, Ad Hoc Mobile Wireless Networks: Principles, Protocols, and Applications, 2nd ed., Boca Raton, FL, USA: CRC Press, 2016.</a:t>
            </a:r>
          </a:p>
          <a:p>
            <a:pPr algn="just"/>
            <a:endParaRPr lang="en-IN" dirty="0"/>
          </a:p>
        </p:txBody>
      </p:sp>
    </p:spTree>
    <p:extLst>
      <p:ext uri="{BB962C8B-B14F-4D97-AF65-F5344CB8AC3E}">
        <p14:creationId xmlns:p14="http://schemas.microsoft.com/office/powerpoint/2010/main" val="5876638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FBCF1-F0C7-DFBD-3EC3-B327056D499B}"/>
              </a:ext>
            </a:extLst>
          </p:cNvPr>
          <p:cNvSpPr>
            <a:spLocks noGrp="1"/>
          </p:cNvSpPr>
          <p:nvPr>
            <p:ph type="title"/>
          </p:nvPr>
        </p:nvSpPr>
        <p:spPr>
          <a:xfrm>
            <a:off x="838200" y="-98324"/>
            <a:ext cx="10515600" cy="1612491"/>
          </a:xfrm>
        </p:spPr>
        <p:txBody>
          <a:bodyPr>
            <a:normAutofit/>
          </a:bodyPr>
          <a:lstStyle/>
          <a:p>
            <a:r>
              <a:rPr lang="en-US" sz="3600" b="1" dirty="0">
                <a:latin typeface="Times New Roman" panose="02020603050405020304" pitchFamily="18" charset="0"/>
                <a:cs typeface="Times New Roman" panose="02020603050405020304" pitchFamily="18" charset="0"/>
              </a:rPr>
              <a:t>                      EXISTING SYSTEM</a:t>
            </a:r>
            <a:endParaRPr lang="en-IN" sz="3600" b="1"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DAF25DF1-3F96-B4E7-1399-1A31A22E248B}"/>
              </a:ext>
            </a:extLst>
          </p:cNvPr>
          <p:cNvSpPr>
            <a:spLocks noGrp="1"/>
          </p:cNvSpPr>
          <p:nvPr>
            <p:ph type="dt" sz="half" idx="10"/>
          </p:nvPr>
        </p:nvSpPr>
        <p:spPr/>
        <p:txBody>
          <a:bodyPr/>
          <a:lstStyle/>
          <a:p>
            <a:fld id="{D1476AC4-8DFC-4A25-AB02-3BCD901770ED}" type="datetime1">
              <a:rPr lang="en-IN" smtClean="0"/>
              <a:pPr/>
              <a:t>23-03-2026</a:t>
            </a:fld>
            <a:endParaRPr lang="en-IN"/>
          </a:p>
        </p:txBody>
      </p:sp>
      <p:sp>
        <p:nvSpPr>
          <p:cNvPr id="4" name="Slide Number Placeholder 3">
            <a:extLst>
              <a:ext uri="{FF2B5EF4-FFF2-40B4-BE49-F238E27FC236}">
                <a16:creationId xmlns:a16="http://schemas.microsoft.com/office/drawing/2014/main" id="{585961FA-4A1D-04D9-81C1-C9F34E423601}"/>
              </a:ext>
            </a:extLst>
          </p:cNvPr>
          <p:cNvSpPr>
            <a:spLocks noGrp="1"/>
          </p:cNvSpPr>
          <p:nvPr>
            <p:ph type="sldNum" sz="quarter" idx="12"/>
          </p:nvPr>
        </p:nvSpPr>
        <p:spPr/>
        <p:txBody>
          <a:bodyPr/>
          <a:lstStyle/>
          <a:p>
            <a:fld id="{A0183BA4-7B10-4BE3-A0B2-A48721054ED6}" type="slidenum">
              <a:rPr lang="en-IN" smtClean="0"/>
              <a:pPr/>
              <a:t>10</a:t>
            </a:fld>
            <a:endParaRPr lang="en-IN"/>
          </a:p>
        </p:txBody>
      </p:sp>
      <p:sp>
        <p:nvSpPr>
          <p:cNvPr id="7" name="TextBox 6">
            <a:extLst>
              <a:ext uri="{FF2B5EF4-FFF2-40B4-BE49-F238E27FC236}">
                <a16:creationId xmlns:a16="http://schemas.microsoft.com/office/drawing/2014/main" id="{ECBCFD7E-6E99-8575-4E3F-48D0EE726527}"/>
              </a:ext>
            </a:extLst>
          </p:cNvPr>
          <p:cNvSpPr txBox="1"/>
          <p:nvPr/>
        </p:nvSpPr>
        <p:spPr>
          <a:xfrm>
            <a:off x="511277" y="1052052"/>
            <a:ext cx="11169447" cy="4832092"/>
          </a:xfrm>
          <a:prstGeom prst="rect">
            <a:avLst/>
          </a:prstGeom>
          <a:noFill/>
        </p:spPr>
        <p:txBody>
          <a:bodyPr wrap="square" rtlCol="0">
            <a:spAutoFit/>
          </a:bodyPr>
          <a:lstStyle/>
          <a:p>
            <a:pPr marL="457200" indent="-457200">
              <a:buFont typeface="Wingdings" panose="05000000000000000000" pitchFamily="2" charset="2"/>
              <a:buChar char="v"/>
            </a:pP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Traditional disaster communication depends on fixed networks like mobile towers and cables.</a:t>
            </a:r>
          </a:p>
          <a:p>
            <a:pPr marL="457200" indent="-457200">
              <a:buFont typeface="Wingdings" panose="05000000000000000000" pitchFamily="2" charset="2"/>
              <a:buChar char="v"/>
            </a:pP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During disasters, these networks often get damaged or overloaded.</a:t>
            </a:r>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This causes communication failure at critical times.</a:t>
            </a:r>
          </a:p>
          <a:p>
            <a:pPr marL="457200" indent="-457200">
              <a:buFont typeface="Wingdings" panose="05000000000000000000" pitchFamily="2" charset="2"/>
              <a:buChar char="v"/>
            </a:pP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system cannot adjust to changing conditions on its own.</a:t>
            </a:r>
          </a:p>
          <a:p>
            <a:pPr marL="457200" indent="-457200">
              <a:buFont typeface="Wingdings" panose="05000000000000000000" pitchFamily="2" charset="2"/>
              <a:buChar char="v"/>
            </a:pP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9734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74432-13AA-461C-7BAA-C90872D7BBBB}"/>
              </a:ext>
            </a:extLst>
          </p:cNvPr>
          <p:cNvSpPr>
            <a:spLocks noGrp="1"/>
          </p:cNvSpPr>
          <p:nvPr>
            <p:ph type="title"/>
          </p:nvPr>
        </p:nvSpPr>
        <p:spPr>
          <a:xfrm>
            <a:off x="838200" y="-363794"/>
            <a:ext cx="10515600" cy="2104103"/>
          </a:xfrm>
        </p:spPr>
        <p:txBody>
          <a:bodyPr>
            <a:normAutofit/>
          </a:bodyPr>
          <a:lstStyle/>
          <a:p>
            <a:pPr algn="ctr"/>
            <a:r>
              <a:rPr lang="en-US" sz="3600" b="1" dirty="0">
                <a:latin typeface="Times New Roman" panose="02020603050405020304" pitchFamily="18" charset="0"/>
                <a:cs typeface="Times New Roman" panose="02020603050405020304" pitchFamily="18" charset="0"/>
              </a:rPr>
              <a:t>    PROPOSED SYSTEM</a:t>
            </a:r>
            <a:endParaRPr lang="en-IN" sz="3600" b="1"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EA6EC022-3C6F-E728-814A-286C9CD7ACB0}"/>
              </a:ext>
            </a:extLst>
          </p:cNvPr>
          <p:cNvSpPr>
            <a:spLocks noGrp="1"/>
          </p:cNvSpPr>
          <p:nvPr>
            <p:ph type="dt" sz="half" idx="10"/>
          </p:nvPr>
        </p:nvSpPr>
        <p:spPr/>
        <p:txBody>
          <a:bodyPr/>
          <a:lstStyle/>
          <a:p>
            <a:fld id="{D1476AC4-8DFC-4A25-AB02-3BCD901770ED}" type="datetime1">
              <a:rPr lang="en-IN" smtClean="0"/>
              <a:pPr/>
              <a:t>23-03-2026</a:t>
            </a:fld>
            <a:endParaRPr lang="en-IN"/>
          </a:p>
        </p:txBody>
      </p:sp>
      <p:sp>
        <p:nvSpPr>
          <p:cNvPr id="4" name="Slide Number Placeholder 3">
            <a:extLst>
              <a:ext uri="{FF2B5EF4-FFF2-40B4-BE49-F238E27FC236}">
                <a16:creationId xmlns:a16="http://schemas.microsoft.com/office/drawing/2014/main" id="{91175E50-438E-AC71-E193-3BF7FF1A2140}"/>
              </a:ext>
            </a:extLst>
          </p:cNvPr>
          <p:cNvSpPr>
            <a:spLocks noGrp="1"/>
          </p:cNvSpPr>
          <p:nvPr>
            <p:ph type="sldNum" sz="quarter" idx="12"/>
          </p:nvPr>
        </p:nvSpPr>
        <p:spPr/>
        <p:txBody>
          <a:bodyPr/>
          <a:lstStyle/>
          <a:p>
            <a:fld id="{A0183BA4-7B10-4BE3-A0B2-A48721054ED6}" type="slidenum">
              <a:rPr lang="en-IN" smtClean="0"/>
              <a:pPr/>
              <a:t>11</a:t>
            </a:fld>
            <a:endParaRPr lang="en-IN"/>
          </a:p>
        </p:txBody>
      </p:sp>
      <p:sp>
        <p:nvSpPr>
          <p:cNvPr id="5" name="TextBox 4">
            <a:extLst>
              <a:ext uri="{FF2B5EF4-FFF2-40B4-BE49-F238E27FC236}">
                <a16:creationId xmlns:a16="http://schemas.microsoft.com/office/drawing/2014/main" id="{CCAE06B8-98CA-B970-8C92-8AA3C8739C84}"/>
              </a:ext>
            </a:extLst>
          </p:cNvPr>
          <p:cNvSpPr txBox="1"/>
          <p:nvPr/>
        </p:nvSpPr>
        <p:spPr>
          <a:xfrm>
            <a:off x="707923" y="1406013"/>
            <a:ext cx="10717161" cy="4832092"/>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proposed system is designed for </a:t>
            </a:r>
            <a:r>
              <a:rPr lang="en-US" sz="2800" b="1" dirty="0">
                <a:latin typeface="Times New Roman" panose="02020603050405020304" pitchFamily="18" charset="0"/>
                <a:cs typeface="Times New Roman" panose="02020603050405020304" pitchFamily="18" charset="0"/>
              </a:rPr>
              <a:t>disaster rescue communication</a:t>
            </a:r>
            <a:r>
              <a:rPr lang="en-US" sz="2800" dirty="0">
                <a:latin typeface="Times New Roman" panose="02020603050405020304" pitchFamily="18" charset="0"/>
                <a:cs typeface="Times New Roman" panose="02020603050405020304" pitchFamily="18" charset="0"/>
              </a:rPr>
              <a:t>     where normal network infrastructure is unavailable.</a:t>
            </a:r>
          </a:p>
          <a:p>
            <a:pPr marL="285750" indent="-285750">
              <a:buFont typeface="Wingdings" panose="05000000000000000000" pitchFamily="2" charset="2"/>
              <a:buChar char="v"/>
            </a:pP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It uses a </a:t>
            </a:r>
            <a:r>
              <a:rPr lang="en-US" sz="2800" b="1" dirty="0">
                <a:latin typeface="Times New Roman" panose="02020603050405020304" pitchFamily="18" charset="0"/>
                <a:cs typeface="Times New Roman" panose="02020603050405020304" pitchFamily="18" charset="0"/>
              </a:rPr>
              <a:t>Mobile Ad Hoc Network (MANET)</a:t>
            </a:r>
            <a:r>
              <a:rPr lang="en-US" sz="2800" dirty="0">
                <a:latin typeface="Times New Roman" panose="02020603050405020304" pitchFamily="18" charset="0"/>
                <a:cs typeface="Times New Roman" panose="02020603050405020304" pitchFamily="18" charset="0"/>
              </a:rPr>
              <a:t>, where rescue teams act                                                                                        as </a:t>
            </a:r>
            <a:r>
              <a:rPr lang="en-US" sz="2800" b="1" dirty="0">
                <a:latin typeface="Times New Roman" panose="02020603050405020304" pitchFamily="18" charset="0"/>
                <a:cs typeface="Times New Roman" panose="02020603050405020304" pitchFamily="18" charset="0"/>
              </a:rPr>
              <a:t>mobile nodes</a:t>
            </a:r>
            <a:r>
              <a:rPr lang="en-US" sz="2800"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v"/>
            </a:pP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Nodes communicate with each other </a:t>
            </a:r>
            <a:r>
              <a:rPr lang="en-US" sz="2800" b="1" dirty="0">
                <a:latin typeface="Times New Roman" panose="02020603050405020304" pitchFamily="18" charset="0"/>
                <a:cs typeface="Times New Roman" panose="02020603050405020304" pitchFamily="18" charset="0"/>
              </a:rPr>
              <a:t>without using mobile towers or       fixed networks</a:t>
            </a:r>
            <a:r>
              <a:rPr lang="en-US" sz="2800" dirty="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v"/>
            </a:pP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The system uses the </a:t>
            </a:r>
            <a:r>
              <a:rPr lang="en-US" sz="2800" b="1" dirty="0">
                <a:latin typeface="Times New Roman" panose="02020603050405020304" pitchFamily="18" charset="0"/>
                <a:cs typeface="Times New Roman" panose="02020603050405020304" pitchFamily="18" charset="0"/>
              </a:rPr>
              <a:t>AODV,</a:t>
            </a:r>
            <a:r>
              <a:rPr lang="en-IN" sz="2800"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DSVD</a:t>
            </a:r>
            <a:r>
              <a:rPr lang="en-US" sz="2800" b="1"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routing protocol</a:t>
            </a:r>
            <a:r>
              <a:rPr lang="en-IN" sz="2800" dirty="0">
                <a:latin typeface="Times New Roman" panose="02020603050405020304" pitchFamily="18" charset="0"/>
                <a:cs typeface="Times New Roman" panose="02020603050405020304" pitchFamily="18" charset="0"/>
              </a:rPr>
              <a:t> for communication.</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83323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AE556-F094-CA24-DFB1-5F44F8A2C325}"/>
              </a:ext>
            </a:extLst>
          </p:cNvPr>
          <p:cNvSpPr>
            <a:spLocks noGrp="1"/>
          </p:cNvSpPr>
          <p:nvPr>
            <p:ph type="title"/>
          </p:nvPr>
        </p:nvSpPr>
        <p:spPr>
          <a:xfrm>
            <a:off x="838200" y="-117987"/>
            <a:ext cx="10515600" cy="1494351"/>
          </a:xfrm>
        </p:spPr>
        <p:txBody>
          <a:bodyPr>
            <a:normAutofit/>
          </a:bodyPr>
          <a:lstStyle/>
          <a:p>
            <a:pPr algn="ctr"/>
            <a:r>
              <a:rPr lang="en-IN" sz="4000" b="1" dirty="0">
                <a:latin typeface="Times New Roman" panose="02020603050405020304" pitchFamily="18" charset="0"/>
                <a:cs typeface="Times New Roman" panose="02020603050405020304" pitchFamily="18" charset="0"/>
              </a:rPr>
              <a:t>MODULE SPLIT-UP </a:t>
            </a:r>
            <a:endParaRPr lang="en-IN" sz="4000" dirty="0"/>
          </a:p>
        </p:txBody>
      </p:sp>
      <p:sp>
        <p:nvSpPr>
          <p:cNvPr id="3" name="Content Placeholder 2">
            <a:extLst>
              <a:ext uri="{FF2B5EF4-FFF2-40B4-BE49-F238E27FC236}">
                <a16:creationId xmlns:a16="http://schemas.microsoft.com/office/drawing/2014/main" id="{44661030-3F1C-A92D-668F-4037E3611272}"/>
              </a:ext>
            </a:extLst>
          </p:cNvPr>
          <p:cNvSpPr>
            <a:spLocks noGrp="1"/>
          </p:cNvSpPr>
          <p:nvPr>
            <p:ph idx="1"/>
          </p:nvPr>
        </p:nvSpPr>
        <p:spPr>
          <a:xfrm>
            <a:off x="550606" y="1445342"/>
            <a:ext cx="11000691" cy="4596684"/>
          </a:xfrm>
        </p:spPr>
        <p:txBody>
          <a:bodyPr>
            <a:normAutofit/>
          </a:bodyPr>
          <a:lstStyle/>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Network Initialization</a:t>
            </a:r>
            <a:r>
              <a:rPr lang="en-US" dirty="0">
                <a:latin typeface="Times New Roman" panose="02020603050405020304" pitchFamily="18" charset="0"/>
                <a:cs typeface="Times New Roman" panose="02020603050405020304" pitchFamily="18" charset="0"/>
              </a:rPr>
              <a:t> – Creates the ad hoc network with mobile nodes.</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Clustering Module</a:t>
            </a:r>
            <a:r>
              <a:rPr lang="en-US" dirty="0">
                <a:latin typeface="Times New Roman" panose="02020603050405020304" pitchFamily="18" charset="0"/>
                <a:cs typeface="Times New Roman" panose="02020603050405020304" pitchFamily="18" charset="0"/>
              </a:rPr>
              <a:t> – Groups nodes and selects cluster heads for stability.</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AODV Module</a:t>
            </a:r>
            <a:r>
              <a:rPr lang="en-US" dirty="0">
                <a:latin typeface="Times New Roman" panose="02020603050405020304" pitchFamily="18" charset="0"/>
                <a:cs typeface="Times New Roman" panose="02020603050405020304" pitchFamily="18" charset="0"/>
              </a:rPr>
              <a:t> – Finds routes only when needed to reduce overhead.</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DSDV Module</a:t>
            </a:r>
            <a:r>
              <a:rPr lang="en-US" dirty="0">
                <a:latin typeface="Times New Roman" panose="02020603050405020304" pitchFamily="18" charset="0"/>
                <a:cs typeface="Times New Roman" panose="02020603050405020304" pitchFamily="18" charset="0"/>
              </a:rPr>
              <a:t> – Uses routing tables and periodic updates for comparison.</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Performance Module</a:t>
            </a:r>
            <a:r>
              <a:rPr lang="en-US" dirty="0">
                <a:latin typeface="Times New Roman" panose="02020603050405020304" pitchFamily="18" charset="0"/>
                <a:cs typeface="Times New Roman" panose="02020603050405020304" pitchFamily="18" charset="0"/>
              </a:rPr>
              <a:t> – Measures delivery rate, hop count, and load.</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Visualization Module</a:t>
            </a:r>
            <a:r>
              <a:rPr lang="en-US" dirty="0">
                <a:latin typeface="Times New Roman" panose="02020603050405020304" pitchFamily="18" charset="0"/>
                <a:cs typeface="Times New Roman" panose="02020603050405020304" pitchFamily="18" charset="0"/>
              </a:rPr>
              <a:t> – Stores data and shows results on a web interface.</a:t>
            </a:r>
          </a:p>
          <a:p>
            <a:pPr>
              <a:buFont typeface="Wingdings" panose="05000000000000000000" pitchFamily="2" charset="2"/>
              <a:buChar char="v"/>
            </a:pP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80593A6-E2F1-957A-F31C-569DDA2E74AF}"/>
              </a:ext>
            </a:extLst>
          </p:cNvPr>
          <p:cNvSpPr>
            <a:spLocks noGrp="1"/>
          </p:cNvSpPr>
          <p:nvPr>
            <p:ph type="dt" sz="half" idx="10"/>
          </p:nvPr>
        </p:nvSpPr>
        <p:spPr/>
        <p:txBody>
          <a:bodyPr/>
          <a:lstStyle/>
          <a:p>
            <a:fld id="{784BDB05-E2D4-4D29-8882-DE25842599A2}" type="datetime1">
              <a:rPr lang="en-IN" smtClean="0"/>
              <a:pPr/>
              <a:t>23-03-2026</a:t>
            </a:fld>
            <a:endParaRPr lang="en-IN"/>
          </a:p>
        </p:txBody>
      </p:sp>
      <p:sp>
        <p:nvSpPr>
          <p:cNvPr id="5" name="Slide Number Placeholder 4">
            <a:extLst>
              <a:ext uri="{FF2B5EF4-FFF2-40B4-BE49-F238E27FC236}">
                <a16:creationId xmlns:a16="http://schemas.microsoft.com/office/drawing/2014/main" id="{51E1F5AB-1A8B-87AA-F1ED-229ADD058068}"/>
              </a:ext>
            </a:extLst>
          </p:cNvPr>
          <p:cNvSpPr>
            <a:spLocks noGrp="1"/>
          </p:cNvSpPr>
          <p:nvPr>
            <p:ph type="sldNum" sz="quarter" idx="12"/>
          </p:nvPr>
        </p:nvSpPr>
        <p:spPr/>
        <p:txBody>
          <a:bodyPr/>
          <a:lstStyle/>
          <a:p>
            <a:fld id="{A0183BA4-7B10-4BE3-A0B2-A48721054ED6}" type="slidenum">
              <a:rPr lang="en-IN" smtClean="0"/>
              <a:pPr/>
              <a:t>12</a:t>
            </a:fld>
            <a:endParaRPr lang="en-IN"/>
          </a:p>
        </p:txBody>
      </p:sp>
    </p:spTree>
    <p:extLst>
      <p:ext uri="{BB962C8B-B14F-4D97-AF65-F5344CB8AC3E}">
        <p14:creationId xmlns:p14="http://schemas.microsoft.com/office/powerpoint/2010/main" val="31358732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D64AB-1857-2EB3-FA47-C0443FBADFCB}"/>
              </a:ext>
            </a:extLst>
          </p:cNvPr>
          <p:cNvSpPr>
            <a:spLocks noGrp="1"/>
          </p:cNvSpPr>
          <p:nvPr>
            <p:ph type="title"/>
          </p:nvPr>
        </p:nvSpPr>
        <p:spPr>
          <a:xfrm>
            <a:off x="0" y="1"/>
            <a:ext cx="12192000" cy="1194318"/>
          </a:xfrm>
        </p:spPr>
        <p:txBody>
          <a:bodyPr>
            <a:normAutofit/>
          </a:bodyPr>
          <a:lstStyle/>
          <a:p>
            <a:pPr algn="ctr"/>
            <a:r>
              <a:rPr lang="en-US" sz="3600" b="1" dirty="0">
                <a:latin typeface="Times New Roman" panose="02020603050405020304" pitchFamily="18" charset="0"/>
                <a:cs typeface="Times New Roman" panose="02020603050405020304" pitchFamily="18" charset="0"/>
              </a:rPr>
              <a:t>PROGRESS ON DESIGN</a:t>
            </a:r>
            <a:endParaRPr lang="en-IN" sz="3600" b="1"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D1B7105E-7EF0-5B5C-DB3B-FCD3DB04C06F}"/>
              </a:ext>
            </a:extLst>
          </p:cNvPr>
          <p:cNvSpPr>
            <a:spLocks noGrp="1"/>
          </p:cNvSpPr>
          <p:nvPr>
            <p:ph type="dt" sz="half" idx="10"/>
          </p:nvPr>
        </p:nvSpPr>
        <p:spPr/>
        <p:txBody>
          <a:bodyPr/>
          <a:lstStyle/>
          <a:p>
            <a:fld id="{D1476AC4-8DFC-4A25-AB02-3BCD901770ED}" type="datetime1">
              <a:rPr lang="en-IN" smtClean="0"/>
              <a:pPr/>
              <a:t>23-03-2026</a:t>
            </a:fld>
            <a:endParaRPr lang="en-IN"/>
          </a:p>
        </p:txBody>
      </p:sp>
      <p:sp>
        <p:nvSpPr>
          <p:cNvPr id="4" name="Slide Number Placeholder 3">
            <a:extLst>
              <a:ext uri="{FF2B5EF4-FFF2-40B4-BE49-F238E27FC236}">
                <a16:creationId xmlns:a16="http://schemas.microsoft.com/office/drawing/2014/main" id="{70CBDC9D-276B-1993-0FE9-293994AF5CEF}"/>
              </a:ext>
            </a:extLst>
          </p:cNvPr>
          <p:cNvSpPr>
            <a:spLocks noGrp="1"/>
          </p:cNvSpPr>
          <p:nvPr>
            <p:ph type="sldNum" sz="quarter" idx="12"/>
          </p:nvPr>
        </p:nvSpPr>
        <p:spPr/>
        <p:txBody>
          <a:bodyPr/>
          <a:lstStyle/>
          <a:p>
            <a:fld id="{A0183BA4-7B10-4BE3-A0B2-A48721054ED6}" type="slidenum">
              <a:rPr lang="en-IN" smtClean="0"/>
              <a:pPr/>
              <a:t>13</a:t>
            </a:fld>
            <a:endParaRPr lang="en-IN"/>
          </a:p>
        </p:txBody>
      </p:sp>
      <p:sp>
        <p:nvSpPr>
          <p:cNvPr id="5" name="TextBox 4">
            <a:extLst>
              <a:ext uri="{FF2B5EF4-FFF2-40B4-BE49-F238E27FC236}">
                <a16:creationId xmlns:a16="http://schemas.microsoft.com/office/drawing/2014/main" id="{05AC1891-77BF-ACFE-656D-79E85259D49D}"/>
              </a:ext>
            </a:extLst>
          </p:cNvPr>
          <p:cNvSpPr txBox="1"/>
          <p:nvPr/>
        </p:nvSpPr>
        <p:spPr>
          <a:xfrm>
            <a:off x="765109" y="1035698"/>
            <a:ext cx="10588691" cy="4370427"/>
          </a:xfrm>
          <a:prstGeom prst="rect">
            <a:avLst/>
          </a:prstGeom>
          <a:noFill/>
        </p:spPr>
        <p:txBody>
          <a:bodyPr wrap="square" rtlCol="0">
            <a:spAutoFit/>
          </a:bodyPr>
          <a:lstStyle/>
          <a:p>
            <a:pPr marL="514350" indent="-514350">
              <a:buFont typeface="+mj-lt"/>
              <a:buAutoNum type="arabicPeriod"/>
            </a:pPr>
            <a:r>
              <a:rPr lang="en-US" sz="2800" b="1" dirty="0">
                <a:latin typeface="Times New Roman" panose="02020603050405020304" pitchFamily="18" charset="0"/>
                <a:cs typeface="Times New Roman" panose="02020603050405020304" pitchFamily="18" charset="0"/>
              </a:rPr>
              <a:t>Problem Analysis</a:t>
            </a:r>
          </a:p>
          <a:p>
            <a:endParaRPr lang="en-US" sz="28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Initially, the limitations of traditional disaster communication systems and standard AODV routing were analyzed. </a:t>
            </a:r>
          </a:p>
          <a:p>
            <a:endParaRPr lang="en-US" sz="28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Key issues identified include slow route discovery, frequent link failures, and unstable clustering in highly dynamic MANET environments</a:t>
            </a:r>
            <a:r>
              <a:rPr lang="en-US" sz="2800" dirty="0"/>
              <a:t>.</a:t>
            </a:r>
          </a:p>
          <a:p>
            <a:pPr marL="342900" indent="-342900">
              <a:buFont typeface="Wingdings" panose="05000000000000000000" pitchFamily="2" charset="2"/>
              <a:buChar char="Ø"/>
            </a:pPr>
            <a:endParaRPr lang="en-US" dirty="0"/>
          </a:p>
          <a:p>
            <a:pPr marL="342900" indent="-342900">
              <a:buFont typeface="Wingdings" panose="05000000000000000000" pitchFamily="2" charset="2"/>
              <a:buChar char="Ø"/>
            </a:pPr>
            <a:endParaRPr lang="en-US" dirty="0"/>
          </a:p>
          <a:p>
            <a:pPr marL="342900" indent="-342900">
              <a:buFont typeface="Wingdings" panose="05000000000000000000" pitchFamily="2" charset="2"/>
              <a:buChar char="Ø"/>
            </a:pPr>
            <a:endParaRPr lang="en-IN" dirty="0"/>
          </a:p>
        </p:txBody>
      </p:sp>
    </p:spTree>
    <p:extLst>
      <p:ext uri="{BB962C8B-B14F-4D97-AF65-F5344CB8AC3E}">
        <p14:creationId xmlns:p14="http://schemas.microsoft.com/office/powerpoint/2010/main" val="3836813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C03877-D9EC-2CE5-28C3-BAD9AB42291A}"/>
              </a:ext>
            </a:extLst>
          </p:cNvPr>
          <p:cNvSpPr>
            <a:spLocks noGrp="1"/>
          </p:cNvSpPr>
          <p:nvPr>
            <p:ph type="dt" sz="half" idx="10"/>
          </p:nvPr>
        </p:nvSpPr>
        <p:spPr/>
        <p:txBody>
          <a:bodyPr/>
          <a:lstStyle/>
          <a:p>
            <a:fld id="{A18A7FA7-F693-4DFB-AEDA-FE633EEC95AF}" type="datetime1">
              <a:rPr lang="en-IN" smtClean="0"/>
              <a:pPr/>
              <a:t>23-03-2026</a:t>
            </a:fld>
            <a:endParaRPr lang="en-IN"/>
          </a:p>
        </p:txBody>
      </p:sp>
      <p:sp>
        <p:nvSpPr>
          <p:cNvPr id="3" name="Slide Number Placeholder 2">
            <a:extLst>
              <a:ext uri="{FF2B5EF4-FFF2-40B4-BE49-F238E27FC236}">
                <a16:creationId xmlns:a16="http://schemas.microsoft.com/office/drawing/2014/main" id="{07C4EC2B-D185-CF21-DE13-9BDA4A73F9E3}"/>
              </a:ext>
            </a:extLst>
          </p:cNvPr>
          <p:cNvSpPr>
            <a:spLocks noGrp="1"/>
          </p:cNvSpPr>
          <p:nvPr>
            <p:ph type="sldNum" sz="quarter" idx="12"/>
          </p:nvPr>
        </p:nvSpPr>
        <p:spPr/>
        <p:txBody>
          <a:bodyPr/>
          <a:lstStyle/>
          <a:p>
            <a:fld id="{A0183BA4-7B10-4BE3-A0B2-A48721054ED6}" type="slidenum">
              <a:rPr lang="en-IN" smtClean="0"/>
              <a:pPr/>
              <a:t>14</a:t>
            </a:fld>
            <a:endParaRPr lang="en-IN"/>
          </a:p>
        </p:txBody>
      </p:sp>
      <p:sp>
        <p:nvSpPr>
          <p:cNvPr id="4" name="TextBox 3">
            <a:extLst>
              <a:ext uri="{FF2B5EF4-FFF2-40B4-BE49-F238E27FC236}">
                <a16:creationId xmlns:a16="http://schemas.microsoft.com/office/drawing/2014/main" id="{A97FFC5A-71EC-5FF2-EC3F-921E7F733961}"/>
              </a:ext>
            </a:extLst>
          </p:cNvPr>
          <p:cNvSpPr txBox="1"/>
          <p:nvPr/>
        </p:nvSpPr>
        <p:spPr>
          <a:xfrm>
            <a:off x="298580" y="363894"/>
            <a:ext cx="11532636" cy="4401205"/>
          </a:xfrm>
          <a:prstGeom prst="rect">
            <a:avLst/>
          </a:prstGeom>
          <a:noFill/>
        </p:spPr>
        <p:txBody>
          <a:bodyPr wrap="square" rtlCol="0">
            <a:spAutoFit/>
          </a:bodyPr>
          <a:lstStyle/>
          <a:p>
            <a:r>
              <a:rPr lang="en-US" sz="2800" b="1" dirty="0"/>
              <a:t>2. System Architecture Design</a:t>
            </a:r>
          </a:p>
          <a:p>
            <a:endParaRPr lang="en-US" sz="2800" dirty="0"/>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 cloud-assisted MANET architecture was designed where mobile nodes form an ad hoc network while a cloud layer provides global support. </a:t>
            </a:r>
          </a:p>
          <a:p>
            <a:pPr marL="457200" indent="-457200">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architecture consists </a:t>
            </a:r>
            <a:r>
              <a:rPr lang="en-US" sz="2800" dirty="0" err="1">
                <a:latin typeface="Times New Roman" panose="02020603050405020304" pitchFamily="18" charset="0"/>
                <a:cs typeface="Times New Roman" panose="02020603050405020304" pitchFamily="18" charset="0"/>
              </a:rPr>
              <a:t>of:Mobile</a:t>
            </a:r>
            <a:r>
              <a:rPr lang="en-US" sz="2800" dirty="0">
                <a:latin typeface="Times New Roman" panose="02020603050405020304" pitchFamily="18" charset="0"/>
                <a:cs typeface="Times New Roman" panose="02020603050405020304" pitchFamily="18" charset="0"/>
              </a:rPr>
              <a:t> rescue nodes (MANET layer)Cloud server for route intelligence Communication interface between nodes and cloud. This layered design enables faster and more reliable routing.</a:t>
            </a:r>
          </a:p>
          <a:p>
            <a:endParaRPr lang="en-US"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C0C55D3-81B0-54CE-0CA2-BB0481D9236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1683" y="3832245"/>
            <a:ext cx="9815804" cy="2777755"/>
          </a:xfrm>
          <a:prstGeom prst="rect">
            <a:avLst/>
          </a:prstGeom>
          <a:noFill/>
        </p:spPr>
      </p:pic>
    </p:spTree>
    <p:extLst>
      <p:ext uri="{BB962C8B-B14F-4D97-AF65-F5344CB8AC3E}">
        <p14:creationId xmlns:p14="http://schemas.microsoft.com/office/powerpoint/2010/main" val="11431363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967FE3-4C9F-268B-26E7-0E3EB7159FAC}"/>
              </a:ext>
            </a:extLst>
          </p:cNvPr>
          <p:cNvSpPr>
            <a:spLocks noGrp="1"/>
          </p:cNvSpPr>
          <p:nvPr>
            <p:ph type="dt" sz="half" idx="10"/>
          </p:nvPr>
        </p:nvSpPr>
        <p:spPr/>
        <p:txBody>
          <a:bodyPr/>
          <a:lstStyle/>
          <a:p>
            <a:fld id="{A18A7FA7-F693-4DFB-AEDA-FE633EEC95AF}" type="datetime1">
              <a:rPr lang="en-IN" smtClean="0"/>
              <a:pPr/>
              <a:t>23-03-2026</a:t>
            </a:fld>
            <a:endParaRPr lang="en-IN"/>
          </a:p>
        </p:txBody>
      </p:sp>
      <p:sp>
        <p:nvSpPr>
          <p:cNvPr id="3" name="Slide Number Placeholder 2">
            <a:extLst>
              <a:ext uri="{FF2B5EF4-FFF2-40B4-BE49-F238E27FC236}">
                <a16:creationId xmlns:a16="http://schemas.microsoft.com/office/drawing/2014/main" id="{729B5099-3B44-EC0A-CD85-5E4BB51073B1}"/>
              </a:ext>
            </a:extLst>
          </p:cNvPr>
          <p:cNvSpPr>
            <a:spLocks noGrp="1"/>
          </p:cNvSpPr>
          <p:nvPr>
            <p:ph type="sldNum" sz="quarter" idx="12"/>
          </p:nvPr>
        </p:nvSpPr>
        <p:spPr/>
        <p:txBody>
          <a:bodyPr/>
          <a:lstStyle/>
          <a:p>
            <a:fld id="{A0183BA4-7B10-4BE3-A0B2-A48721054ED6}" type="slidenum">
              <a:rPr lang="en-IN" smtClean="0"/>
              <a:pPr/>
              <a:t>15</a:t>
            </a:fld>
            <a:endParaRPr lang="en-IN"/>
          </a:p>
        </p:txBody>
      </p:sp>
      <p:sp>
        <p:nvSpPr>
          <p:cNvPr id="6" name="TextBox 5">
            <a:extLst>
              <a:ext uri="{FF2B5EF4-FFF2-40B4-BE49-F238E27FC236}">
                <a16:creationId xmlns:a16="http://schemas.microsoft.com/office/drawing/2014/main" id="{59400D7B-219D-2FD8-43B3-8C42D88601A6}"/>
              </a:ext>
            </a:extLst>
          </p:cNvPr>
          <p:cNvSpPr txBox="1"/>
          <p:nvPr/>
        </p:nvSpPr>
        <p:spPr>
          <a:xfrm>
            <a:off x="270587" y="136526"/>
            <a:ext cx="11625943" cy="695575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3. Routing Algorithm Design</a:t>
            </a:r>
          </a:p>
          <a:p>
            <a:endParaRPr lang="en-IN" sz="28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The standard AODV protocol was modified to integrate cloud-assisted route discovery. The design includes:</a:t>
            </a:r>
          </a:p>
          <a:p>
            <a:r>
              <a:rPr lang="en-IN" sz="2800" dirty="0">
                <a:latin typeface="Times New Roman" panose="02020603050405020304" pitchFamily="18" charset="0"/>
                <a:cs typeface="Times New Roman" panose="02020603050405020304" pitchFamily="18" charset="0"/>
              </a:rPr>
              <a:t> </a:t>
            </a:r>
          </a:p>
          <a:p>
            <a:pPr marL="457200" indent="-4572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Faster route request handling</a:t>
            </a:r>
          </a:p>
          <a:p>
            <a:endParaRPr lang="en-IN"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Reduced broadcast flooding </a:t>
            </a:r>
          </a:p>
          <a:p>
            <a:pPr marL="457200" indent="-457200">
              <a:buFont typeface="Wingdings" panose="05000000000000000000" pitchFamily="2" charset="2"/>
              <a:buChar char="Ø"/>
            </a:pPr>
            <a:endParaRPr lang="en-IN"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Cloud-supported route optimization</a:t>
            </a:r>
          </a:p>
          <a:p>
            <a:endParaRPr lang="en-IN"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Improved route maintenance and recovery.</a:t>
            </a:r>
          </a:p>
          <a:p>
            <a:endParaRPr lang="en-IN"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A comparison with DSDV was also considered for performance evaluation</a:t>
            </a:r>
            <a:r>
              <a:rPr lang="en-IN" dirty="0"/>
              <a:t>.</a:t>
            </a:r>
          </a:p>
          <a:p>
            <a:endParaRPr lang="en-IN" dirty="0"/>
          </a:p>
          <a:p>
            <a:endParaRPr lang="en-IN" dirty="0"/>
          </a:p>
          <a:p>
            <a:pPr marL="457200" indent="-457200">
              <a:buFont typeface="Wingdings" panose="05000000000000000000" pitchFamily="2" charset="2"/>
              <a:buChar char="Ø"/>
            </a:pPr>
            <a:endParaRPr lang="en-IN" dirty="0"/>
          </a:p>
        </p:txBody>
      </p:sp>
    </p:spTree>
    <p:extLst>
      <p:ext uri="{BB962C8B-B14F-4D97-AF65-F5344CB8AC3E}">
        <p14:creationId xmlns:p14="http://schemas.microsoft.com/office/powerpoint/2010/main" val="9728593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0C51FD-8E9F-2CBB-6991-3CE462639F96}"/>
              </a:ext>
            </a:extLst>
          </p:cNvPr>
          <p:cNvSpPr>
            <a:spLocks noGrp="1"/>
          </p:cNvSpPr>
          <p:nvPr>
            <p:ph type="dt" sz="half" idx="10"/>
          </p:nvPr>
        </p:nvSpPr>
        <p:spPr/>
        <p:txBody>
          <a:bodyPr/>
          <a:lstStyle/>
          <a:p>
            <a:fld id="{A18A7FA7-F693-4DFB-AEDA-FE633EEC95AF}" type="datetime1">
              <a:rPr lang="en-IN" smtClean="0"/>
              <a:pPr/>
              <a:t>23-03-2026</a:t>
            </a:fld>
            <a:endParaRPr lang="en-IN"/>
          </a:p>
        </p:txBody>
      </p:sp>
      <p:sp>
        <p:nvSpPr>
          <p:cNvPr id="3" name="Slide Number Placeholder 2">
            <a:extLst>
              <a:ext uri="{FF2B5EF4-FFF2-40B4-BE49-F238E27FC236}">
                <a16:creationId xmlns:a16="http://schemas.microsoft.com/office/drawing/2014/main" id="{3872DF82-8579-9C22-74D7-6FDA7BDC6EF5}"/>
              </a:ext>
            </a:extLst>
          </p:cNvPr>
          <p:cNvSpPr>
            <a:spLocks noGrp="1"/>
          </p:cNvSpPr>
          <p:nvPr>
            <p:ph type="sldNum" sz="quarter" idx="12"/>
          </p:nvPr>
        </p:nvSpPr>
        <p:spPr/>
        <p:txBody>
          <a:bodyPr/>
          <a:lstStyle/>
          <a:p>
            <a:fld id="{A0183BA4-7B10-4BE3-A0B2-A48721054ED6}" type="slidenum">
              <a:rPr lang="en-IN" smtClean="0"/>
              <a:pPr/>
              <a:t>16</a:t>
            </a:fld>
            <a:endParaRPr lang="en-IN"/>
          </a:p>
        </p:txBody>
      </p:sp>
      <p:sp>
        <p:nvSpPr>
          <p:cNvPr id="4" name="TextBox 3">
            <a:extLst>
              <a:ext uri="{FF2B5EF4-FFF2-40B4-BE49-F238E27FC236}">
                <a16:creationId xmlns:a16="http://schemas.microsoft.com/office/drawing/2014/main" id="{E083C035-03BC-54B2-0E4A-3F7E4830A345}"/>
              </a:ext>
            </a:extLst>
          </p:cNvPr>
          <p:cNvSpPr txBox="1"/>
          <p:nvPr/>
        </p:nvSpPr>
        <p:spPr>
          <a:xfrm>
            <a:off x="597159" y="770359"/>
            <a:ext cx="11330474" cy="4832092"/>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4.Cluster Stability Model</a:t>
            </a:r>
          </a:p>
          <a:p>
            <a:endParaRPr lang="en-US" sz="28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 mechanism was designed to maintain stable clusters by:</a:t>
            </a:r>
          </a:p>
          <a:p>
            <a:pPr marL="457200" indent="-457200">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Selecting reliable nodes as cluster heads</a:t>
            </a:r>
          </a:p>
          <a:p>
            <a:pPr marL="457200" indent="-457200">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Minimizing frequent topology changes</a:t>
            </a:r>
          </a:p>
          <a:p>
            <a:pPr marL="457200" indent="-457200">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Maintaining stable communication groups</a:t>
            </a:r>
          </a:p>
          <a:p>
            <a:pPr marL="457200" indent="-457200">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This improves coordination among rescue nodes.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99216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29BC99-9DC1-BD6B-6D6D-39DA4B2E7866}"/>
              </a:ext>
            </a:extLst>
          </p:cNvPr>
          <p:cNvSpPr>
            <a:spLocks noGrp="1"/>
          </p:cNvSpPr>
          <p:nvPr>
            <p:ph type="dt" sz="half" idx="10"/>
          </p:nvPr>
        </p:nvSpPr>
        <p:spPr/>
        <p:txBody>
          <a:bodyPr/>
          <a:lstStyle/>
          <a:p>
            <a:fld id="{A18A7FA7-F693-4DFB-AEDA-FE633EEC95AF}" type="datetime1">
              <a:rPr lang="en-IN" smtClean="0"/>
              <a:pPr/>
              <a:t>23-03-2026</a:t>
            </a:fld>
            <a:endParaRPr lang="en-IN"/>
          </a:p>
        </p:txBody>
      </p:sp>
      <p:sp>
        <p:nvSpPr>
          <p:cNvPr id="3" name="Slide Number Placeholder 2">
            <a:extLst>
              <a:ext uri="{FF2B5EF4-FFF2-40B4-BE49-F238E27FC236}">
                <a16:creationId xmlns:a16="http://schemas.microsoft.com/office/drawing/2014/main" id="{A54CB24D-9D3C-34C6-F946-02E768574FFF}"/>
              </a:ext>
            </a:extLst>
          </p:cNvPr>
          <p:cNvSpPr>
            <a:spLocks noGrp="1"/>
          </p:cNvSpPr>
          <p:nvPr>
            <p:ph type="sldNum" sz="quarter" idx="12"/>
          </p:nvPr>
        </p:nvSpPr>
        <p:spPr/>
        <p:txBody>
          <a:bodyPr/>
          <a:lstStyle/>
          <a:p>
            <a:fld id="{A0183BA4-7B10-4BE3-A0B2-A48721054ED6}" type="slidenum">
              <a:rPr lang="en-IN" smtClean="0"/>
              <a:pPr/>
              <a:t>17</a:t>
            </a:fld>
            <a:endParaRPr lang="en-IN"/>
          </a:p>
        </p:txBody>
      </p:sp>
      <p:sp>
        <p:nvSpPr>
          <p:cNvPr id="4" name="TextBox 3">
            <a:extLst>
              <a:ext uri="{FF2B5EF4-FFF2-40B4-BE49-F238E27FC236}">
                <a16:creationId xmlns:a16="http://schemas.microsoft.com/office/drawing/2014/main" id="{087735DC-86C8-140C-9D70-ACEEA46F5CCB}"/>
              </a:ext>
            </a:extLst>
          </p:cNvPr>
          <p:cNvSpPr txBox="1"/>
          <p:nvPr/>
        </p:nvSpPr>
        <p:spPr>
          <a:xfrm>
            <a:off x="569167" y="541176"/>
            <a:ext cx="11038115" cy="4832092"/>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5. Current Status</a:t>
            </a:r>
          </a:p>
          <a:p>
            <a:endParaRPr lang="en-US" sz="28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overall system design, routing logic, and architecture have been completed. </a:t>
            </a:r>
          </a:p>
          <a:p>
            <a:endParaRPr lang="en-US" sz="2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project is now moving towards Software implementation and performance evaluation.</a:t>
            </a:r>
          </a:p>
          <a:p>
            <a:pPr marL="285750" indent="-285750">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We will implement the cloud-assisted AODV model using simulation tools and evaluate its performance by comparing it with traditional routing protocols.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37416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AC562-CA69-7CEC-4B24-40B00EE8BB1C}"/>
              </a:ext>
            </a:extLst>
          </p:cNvPr>
          <p:cNvSpPr>
            <a:spLocks noGrp="1"/>
          </p:cNvSpPr>
          <p:nvPr>
            <p:ph type="title"/>
          </p:nvPr>
        </p:nvSpPr>
        <p:spPr>
          <a:xfrm>
            <a:off x="-74645" y="1"/>
            <a:ext cx="12266645" cy="1082350"/>
          </a:xfrm>
        </p:spPr>
        <p:txBody>
          <a:bodyPr>
            <a:normAutofit/>
          </a:bodyPr>
          <a:lstStyle/>
          <a:p>
            <a:pPr algn="ctr"/>
            <a:r>
              <a:rPr lang="en-US" sz="3600" b="1" dirty="0">
                <a:latin typeface="Times New Roman" panose="02020603050405020304" pitchFamily="18" charset="0"/>
                <a:cs typeface="Times New Roman" panose="02020603050405020304" pitchFamily="18" charset="0"/>
              </a:rPr>
              <a:t>ANALYSIS AND EXPERIMENTAL WORK</a:t>
            </a:r>
            <a:endParaRPr lang="en-IN" sz="3600" b="1"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8A8B5E67-748D-97D8-FF69-86866241FF3F}"/>
              </a:ext>
            </a:extLst>
          </p:cNvPr>
          <p:cNvSpPr>
            <a:spLocks noGrp="1"/>
          </p:cNvSpPr>
          <p:nvPr>
            <p:ph type="dt" sz="half" idx="10"/>
          </p:nvPr>
        </p:nvSpPr>
        <p:spPr/>
        <p:txBody>
          <a:bodyPr/>
          <a:lstStyle/>
          <a:p>
            <a:fld id="{D1476AC4-8DFC-4A25-AB02-3BCD901770ED}" type="datetime1">
              <a:rPr lang="en-IN" smtClean="0"/>
              <a:pPr/>
              <a:t>23-03-2026</a:t>
            </a:fld>
            <a:endParaRPr lang="en-IN"/>
          </a:p>
        </p:txBody>
      </p:sp>
      <p:sp>
        <p:nvSpPr>
          <p:cNvPr id="4" name="Slide Number Placeholder 3">
            <a:extLst>
              <a:ext uri="{FF2B5EF4-FFF2-40B4-BE49-F238E27FC236}">
                <a16:creationId xmlns:a16="http://schemas.microsoft.com/office/drawing/2014/main" id="{42F5C3F3-1B3A-76EB-44C8-075AC7513EDF}"/>
              </a:ext>
            </a:extLst>
          </p:cNvPr>
          <p:cNvSpPr>
            <a:spLocks noGrp="1"/>
          </p:cNvSpPr>
          <p:nvPr>
            <p:ph type="sldNum" sz="quarter" idx="12"/>
          </p:nvPr>
        </p:nvSpPr>
        <p:spPr/>
        <p:txBody>
          <a:bodyPr/>
          <a:lstStyle/>
          <a:p>
            <a:fld id="{A0183BA4-7B10-4BE3-A0B2-A48721054ED6}" type="slidenum">
              <a:rPr lang="en-IN" smtClean="0"/>
              <a:pPr/>
              <a:t>18</a:t>
            </a:fld>
            <a:endParaRPr lang="en-IN"/>
          </a:p>
        </p:txBody>
      </p:sp>
      <p:sp>
        <p:nvSpPr>
          <p:cNvPr id="6" name="TextBox 5">
            <a:extLst>
              <a:ext uri="{FF2B5EF4-FFF2-40B4-BE49-F238E27FC236}">
                <a16:creationId xmlns:a16="http://schemas.microsoft.com/office/drawing/2014/main" id="{38640AB7-CBE3-C33B-C773-07FB7A9DA51A}"/>
              </a:ext>
            </a:extLst>
          </p:cNvPr>
          <p:cNvSpPr txBox="1"/>
          <p:nvPr/>
        </p:nvSpPr>
        <p:spPr>
          <a:xfrm>
            <a:off x="559838" y="1212978"/>
            <a:ext cx="10991460" cy="5262979"/>
          </a:xfrm>
          <a:prstGeom prst="rect">
            <a:avLst/>
          </a:prstGeom>
          <a:noFill/>
        </p:spPr>
        <p:txBody>
          <a:bodyPr wrap="square">
            <a:spAutoFit/>
          </a:bodyPr>
          <a:lstStyle/>
          <a:p>
            <a:pPr marL="457200" indent="-4572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The proposed cloud-assisted AODV model is evaluated using a software-based simulation environment.</a:t>
            </a:r>
          </a:p>
          <a:p>
            <a:pPr marL="457200" indent="-457200">
              <a:buFont typeface="Wingdings" panose="05000000000000000000" pitchFamily="2" charset="2"/>
              <a:buChar char="Ø"/>
            </a:pPr>
            <a:endParaRPr lang="en-IN"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Disaster-like MANET scenarios are created with mobile nodes and dynamic topology changes.</a:t>
            </a:r>
          </a:p>
          <a:p>
            <a:pPr marL="457200" indent="-457200">
              <a:buFont typeface="Wingdings" panose="05000000000000000000" pitchFamily="2" charset="2"/>
              <a:buChar char="Ø"/>
            </a:pPr>
            <a:endParaRPr lang="en-IN"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The cloud-assisted route discovery mechanism is implemented and tested.</a:t>
            </a:r>
          </a:p>
          <a:p>
            <a:pPr marL="457200" indent="-457200">
              <a:buFont typeface="Wingdings" panose="05000000000000000000" pitchFamily="2" charset="2"/>
              <a:buChar char="Ø"/>
            </a:pPr>
            <a:endParaRPr lang="en-IN"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Key performance metrics such as end-to-end delay, packet delivery ratio, routing overhead, and cluster stability are </a:t>
            </a:r>
            <a:r>
              <a:rPr lang="en-IN" sz="2800" dirty="0" err="1">
                <a:latin typeface="Times New Roman" panose="02020603050405020304" pitchFamily="18" charset="0"/>
                <a:cs typeface="Times New Roman" panose="02020603050405020304" pitchFamily="18" charset="0"/>
              </a:rPr>
              <a:t>analyzed</a:t>
            </a:r>
            <a:r>
              <a:rPr lang="en-IN" sz="2800" dirty="0">
                <a:latin typeface="Times New Roman" panose="02020603050405020304" pitchFamily="18" charset="0"/>
                <a:cs typeface="Times New Roman" panose="02020603050405020304" pitchFamily="18" charset="0"/>
              </a:rPr>
              <a:t>.</a:t>
            </a:r>
          </a:p>
          <a:p>
            <a:pPr marL="457200" indent="-457200">
              <a:buFont typeface="Wingdings" panose="05000000000000000000" pitchFamily="2" charset="2"/>
              <a:buChar char="Ø"/>
            </a:pPr>
            <a:endParaRPr lang="en-IN" sz="2800" dirty="0"/>
          </a:p>
        </p:txBody>
      </p:sp>
    </p:spTree>
    <p:extLst>
      <p:ext uri="{BB962C8B-B14F-4D97-AF65-F5344CB8AC3E}">
        <p14:creationId xmlns:p14="http://schemas.microsoft.com/office/powerpoint/2010/main" val="19155887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4B8A5-450F-044F-A944-1C58C5F7FAE1}"/>
              </a:ext>
            </a:extLst>
          </p:cNvPr>
          <p:cNvSpPr>
            <a:spLocks noGrp="1"/>
          </p:cNvSpPr>
          <p:nvPr>
            <p:ph type="title"/>
          </p:nvPr>
        </p:nvSpPr>
        <p:spPr>
          <a:xfrm>
            <a:off x="-71120" y="1"/>
            <a:ext cx="12263120" cy="1402079"/>
          </a:xfrm>
        </p:spPr>
        <p:txBody>
          <a:bodyPr>
            <a:normAutofit/>
          </a:bodyPr>
          <a:lstStyle/>
          <a:p>
            <a:pPr algn="ctr"/>
            <a:r>
              <a:rPr lang="en-US" sz="3600" b="1" dirty="0">
                <a:latin typeface="Times New Roman" panose="02020603050405020304" pitchFamily="18" charset="0"/>
                <a:cs typeface="Times New Roman" panose="02020603050405020304" pitchFamily="18" charset="0"/>
              </a:rPr>
              <a:t>PROTOTYPE</a:t>
            </a:r>
            <a:endParaRPr lang="en-IN" sz="3600" b="1"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337740A0-2AD3-41DC-0860-E4E1F6CCED0D}"/>
              </a:ext>
            </a:extLst>
          </p:cNvPr>
          <p:cNvSpPr>
            <a:spLocks noGrp="1"/>
          </p:cNvSpPr>
          <p:nvPr>
            <p:ph type="dt" sz="half" idx="10"/>
          </p:nvPr>
        </p:nvSpPr>
        <p:spPr/>
        <p:txBody>
          <a:bodyPr/>
          <a:lstStyle/>
          <a:p>
            <a:fld id="{D1476AC4-8DFC-4A25-AB02-3BCD901770ED}" type="datetime1">
              <a:rPr lang="en-IN" smtClean="0"/>
              <a:pPr/>
              <a:t>23-03-2026</a:t>
            </a:fld>
            <a:endParaRPr lang="en-IN"/>
          </a:p>
        </p:txBody>
      </p:sp>
      <p:sp>
        <p:nvSpPr>
          <p:cNvPr id="4" name="Slide Number Placeholder 3">
            <a:extLst>
              <a:ext uri="{FF2B5EF4-FFF2-40B4-BE49-F238E27FC236}">
                <a16:creationId xmlns:a16="http://schemas.microsoft.com/office/drawing/2014/main" id="{8BF216C5-E07D-0E23-FB1D-F5A1FD8E2FB7}"/>
              </a:ext>
            </a:extLst>
          </p:cNvPr>
          <p:cNvSpPr>
            <a:spLocks noGrp="1"/>
          </p:cNvSpPr>
          <p:nvPr>
            <p:ph type="sldNum" sz="quarter" idx="12"/>
          </p:nvPr>
        </p:nvSpPr>
        <p:spPr/>
        <p:txBody>
          <a:bodyPr/>
          <a:lstStyle/>
          <a:p>
            <a:fld id="{A0183BA4-7B10-4BE3-A0B2-A48721054ED6}" type="slidenum">
              <a:rPr lang="en-IN" smtClean="0"/>
              <a:pPr/>
              <a:t>19</a:t>
            </a:fld>
            <a:endParaRPr lang="en-IN"/>
          </a:p>
        </p:txBody>
      </p:sp>
      <p:sp>
        <p:nvSpPr>
          <p:cNvPr id="8" name="TextBox 7">
            <a:extLst>
              <a:ext uri="{FF2B5EF4-FFF2-40B4-BE49-F238E27FC236}">
                <a16:creationId xmlns:a16="http://schemas.microsoft.com/office/drawing/2014/main" id="{476BB2DA-9E8B-39A4-B977-54C4A23B2E92}"/>
              </a:ext>
            </a:extLst>
          </p:cNvPr>
          <p:cNvSpPr txBox="1"/>
          <p:nvPr/>
        </p:nvSpPr>
        <p:spPr>
          <a:xfrm>
            <a:off x="255036" y="1565940"/>
            <a:ext cx="11681927" cy="3970318"/>
          </a:xfrm>
          <a:prstGeom prst="rect">
            <a:avLst/>
          </a:prstGeom>
          <a:noFill/>
        </p:spPr>
        <p:txBody>
          <a:bodyPr wrap="square">
            <a:spAutoFit/>
          </a:bodyPr>
          <a:lstStyle/>
          <a:p>
            <a:pPr marL="285750" indent="-28575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The prototype is a software-based simulation that demonstrates cloud-assisted fast route discovery in AODV for disaster rescue environments.</a:t>
            </a:r>
          </a:p>
          <a:p>
            <a:endParaRPr lang="en-IN" sz="2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The prototype simulates a Mobile Ad Hoc Network (MANET) where multiple mobile nodes communicate without fixed infrastructure.</a:t>
            </a:r>
          </a:p>
          <a:p>
            <a:pPr marL="285750" indent="-285750">
              <a:buFont typeface="Wingdings" panose="05000000000000000000" pitchFamily="2" charset="2"/>
              <a:buChar char="Ø"/>
            </a:pPr>
            <a:endParaRPr lang="en-IN" sz="2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The prototype tests key functions like route discovery, route maintenance, and cluster formation.</a:t>
            </a:r>
          </a:p>
          <a:p>
            <a:endParaRPr lang="en-IN" sz="2800" dirty="0"/>
          </a:p>
        </p:txBody>
      </p:sp>
    </p:spTree>
    <p:extLst>
      <p:ext uri="{BB962C8B-B14F-4D97-AF65-F5344CB8AC3E}">
        <p14:creationId xmlns:p14="http://schemas.microsoft.com/office/powerpoint/2010/main" val="14017384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52BA0C-09A1-D5F8-3841-B7E9AB514759}"/>
              </a:ext>
            </a:extLst>
          </p:cNvPr>
          <p:cNvSpPr>
            <a:spLocks noGrp="1"/>
          </p:cNvSpPr>
          <p:nvPr>
            <p:ph type="dt" sz="half" idx="10"/>
          </p:nvPr>
        </p:nvSpPr>
        <p:spPr/>
        <p:txBody>
          <a:bodyPr/>
          <a:lstStyle/>
          <a:p>
            <a:fld id="{A18A7FA7-F693-4DFB-AEDA-FE633EEC95AF}" type="datetime1">
              <a:rPr lang="en-IN" smtClean="0"/>
              <a:pPr/>
              <a:t>23-03-2026</a:t>
            </a:fld>
            <a:endParaRPr lang="en-IN"/>
          </a:p>
        </p:txBody>
      </p:sp>
      <p:sp>
        <p:nvSpPr>
          <p:cNvPr id="3" name="Slide Number Placeholder 2">
            <a:extLst>
              <a:ext uri="{FF2B5EF4-FFF2-40B4-BE49-F238E27FC236}">
                <a16:creationId xmlns:a16="http://schemas.microsoft.com/office/drawing/2014/main" id="{F521F2E9-4F73-02CD-99D9-7FF995DEF475}"/>
              </a:ext>
            </a:extLst>
          </p:cNvPr>
          <p:cNvSpPr>
            <a:spLocks noGrp="1"/>
          </p:cNvSpPr>
          <p:nvPr>
            <p:ph type="sldNum" sz="quarter" idx="12"/>
          </p:nvPr>
        </p:nvSpPr>
        <p:spPr/>
        <p:txBody>
          <a:bodyPr/>
          <a:lstStyle/>
          <a:p>
            <a:fld id="{A0183BA4-7B10-4BE3-A0B2-A48721054ED6}" type="slidenum">
              <a:rPr lang="en-IN" smtClean="0"/>
              <a:pPr/>
              <a:t>20</a:t>
            </a:fld>
            <a:endParaRPr lang="en-IN"/>
          </a:p>
        </p:txBody>
      </p:sp>
      <p:sp>
        <p:nvSpPr>
          <p:cNvPr id="6" name="TextBox 5">
            <a:extLst>
              <a:ext uri="{FF2B5EF4-FFF2-40B4-BE49-F238E27FC236}">
                <a16:creationId xmlns:a16="http://schemas.microsoft.com/office/drawing/2014/main" id="{7845FE06-A001-6C1F-90D3-611D97F7455A}"/>
              </a:ext>
            </a:extLst>
          </p:cNvPr>
          <p:cNvSpPr txBox="1"/>
          <p:nvPr/>
        </p:nvSpPr>
        <p:spPr>
          <a:xfrm>
            <a:off x="634482" y="1074251"/>
            <a:ext cx="10719318" cy="5647224"/>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It acts as a proof-of-concept for cloud-assisted routing.</a:t>
            </a:r>
          </a:p>
          <a:p>
            <a:pPr marL="457200" indent="-457200">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Demonstrates improved communication reliability and reduced delay in disaster scenarios.</a:t>
            </a:r>
          </a:p>
          <a:p>
            <a:pPr marL="457200" indent="-457200">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Provides a base for further development and performance evaluation.</a:t>
            </a:r>
          </a:p>
          <a:p>
            <a:pPr marL="457200" indent="-457200">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prototype helps visualize system functionality and validate the effectiveness of cloud-assisted routing before full implementation.</a:t>
            </a:r>
          </a:p>
          <a:p>
            <a:pPr marL="457200" indent="-457200">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68761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736973-AA87-7302-AC20-8ED942B98450}"/>
              </a:ext>
            </a:extLst>
          </p:cNvPr>
          <p:cNvSpPr>
            <a:spLocks noGrp="1"/>
          </p:cNvSpPr>
          <p:nvPr>
            <p:ph type="dt" sz="half" idx="10"/>
          </p:nvPr>
        </p:nvSpPr>
        <p:spPr/>
        <p:txBody>
          <a:bodyPr/>
          <a:lstStyle/>
          <a:p>
            <a:fld id="{A18A7FA7-F693-4DFB-AEDA-FE633EEC95AF}" type="datetime1">
              <a:rPr lang="en-IN" smtClean="0"/>
              <a:pPr/>
              <a:t>23-03-2026</a:t>
            </a:fld>
            <a:endParaRPr lang="en-IN"/>
          </a:p>
        </p:txBody>
      </p:sp>
      <p:sp>
        <p:nvSpPr>
          <p:cNvPr id="3" name="Slide Number Placeholder 2">
            <a:extLst>
              <a:ext uri="{FF2B5EF4-FFF2-40B4-BE49-F238E27FC236}">
                <a16:creationId xmlns:a16="http://schemas.microsoft.com/office/drawing/2014/main" id="{4F9FE1C1-F639-1BD7-CD08-CC16F32ECA3D}"/>
              </a:ext>
            </a:extLst>
          </p:cNvPr>
          <p:cNvSpPr>
            <a:spLocks noGrp="1"/>
          </p:cNvSpPr>
          <p:nvPr>
            <p:ph type="sldNum" sz="quarter" idx="12"/>
          </p:nvPr>
        </p:nvSpPr>
        <p:spPr/>
        <p:txBody>
          <a:bodyPr/>
          <a:lstStyle/>
          <a:p>
            <a:fld id="{A0183BA4-7B10-4BE3-A0B2-A48721054ED6}" type="slidenum">
              <a:rPr lang="en-IN" smtClean="0"/>
              <a:pPr/>
              <a:t>21</a:t>
            </a:fld>
            <a:endParaRPr lang="en-IN"/>
          </a:p>
        </p:txBody>
      </p:sp>
      <p:sp>
        <p:nvSpPr>
          <p:cNvPr id="6" name="TextBox 5">
            <a:extLst>
              <a:ext uri="{FF2B5EF4-FFF2-40B4-BE49-F238E27FC236}">
                <a16:creationId xmlns:a16="http://schemas.microsoft.com/office/drawing/2014/main" id="{F8FCF700-C998-62E6-C600-8D3FD6001B4F}"/>
              </a:ext>
            </a:extLst>
          </p:cNvPr>
          <p:cNvSpPr txBox="1"/>
          <p:nvPr/>
        </p:nvSpPr>
        <p:spPr>
          <a:xfrm>
            <a:off x="0" y="426122"/>
            <a:ext cx="12192000"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RESULT AND ANALYSIS</a:t>
            </a:r>
            <a:endParaRPr lang="en-IN" sz="36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AD78C977-82CA-5DA6-3214-69BC7139E5E0}"/>
              </a:ext>
            </a:extLst>
          </p:cNvPr>
          <p:cNvSpPr txBox="1"/>
          <p:nvPr/>
        </p:nvSpPr>
        <p:spPr>
          <a:xfrm>
            <a:off x="668593" y="1366684"/>
            <a:ext cx="10854814" cy="4401205"/>
          </a:xfrm>
          <a:prstGeom prst="rect">
            <a:avLst/>
          </a:prstGeom>
          <a:noFill/>
        </p:spPr>
        <p:txBody>
          <a:bodyPr wrap="square" rtlCol="0">
            <a:spAutoFit/>
          </a:bodyPr>
          <a:lstStyle/>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proposed cloud-assisted AODV model was tested using a software simulation in a disaster-like MANET environment. The results show reduced end-to-end delay, improved packet delivery ratio, lower routing overhead, and better cluster stability compared to traditional AODV and DSDV.</a:t>
            </a:r>
          </a:p>
          <a:p>
            <a:endParaRPr lang="en-US" sz="28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analysis indicates that cloud assistance helps in faster route discovery by using global network information, reducing dependence on local node communication. This improves overall communication reliability and adaptability in dynamic disaster conditions.</a:t>
            </a:r>
          </a:p>
        </p:txBody>
      </p:sp>
    </p:spTree>
    <p:extLst>
      <p:ext uri="{BB962C8B-B14F-4D97-AF65-F5344CB8AC3E}">
        <p14:creationId xmlns:p14="http://schemas.microsoft.com/office/powerpoint/2010/main" val="40694674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4C5191-7363-4D4F-92A4-F56DA2961A5D}"/>
              </a:ext>
            </a:extLst>
          </p:cNvPr>
          <p:cNvSpPr>
            <a:spLocks noGrp="1"/>
          </p:cNvSpPr>
          <p:nvPr>
            <p:ph type="dt" sz="half" idx="10"/>
          </p:nvPr>
        </p:nvSpPr>
        <p:spPr/>
        <p:txBody>
          <a:bodyPr/>
          <a:lstStyle/>
          <a:p>
            <a:fld id="{A18A7FA7-F693-4DFB-AEDA-FE633EEC95AF}" type="datetime1">
              <a:rPr lang="en-IN" smtClean="0"/>
              <a:pPr/>
              <a:t>23-03-2026</a:t>
            </a:fld>
            <a:endParaRPr lang="en-IN"/>
          </a:p>
        </p:txBody>
      </p:sp>
      <p:sp>
        <p:nvSpPr>
          <p:cNvPr id="3" name="Slide Number Placeholder 2">
            <a:extLst>
              <a:ext uri="{FF2B5EF4-FFF2-40B4-BE49-F238E27FC236}">
                <a16:creationId xmlns:a16="http://schemas.microsoft.com/office/drawing/2014/main" id="{45D51978-3872-27DA-72B0-DB39A2FD5856}"/>
              </a:ext>
            </a:extLst>
          </p:cNvPr>
          <p:cNvSpPr>
            <a:spLocks noGrp="1"/>
          </p:cNvSpPr>
          <p:nvPr>
            <p:ph type="sldNum" sz="quarter" idx="12"/>
          </p:nvPr>
        </p:nvSpPr>
        <p:spPr/>
        <p:txBody>
          <a:bodyPr/>
          <a:lstStyle/>
          <a:p>
            <a:fld id="{A0183BA4-7B10-4BE3-A0B2-A48721054ED6}" type="slidenum">
              <a:rPr lang="en-IN" smtClean="0"/>
              <a:pPr/>
              <a:t>22</a:t>
            </a:fld>
            <a:endParaRPr lang="en-IN"/>
          </a:p>
        </p:txBody>
      </p:sp>
      <p:sp>
        <p:nvSpPr>
          <p:cNvPr id="4" name="TextBox 3">
            <a:extLst>
              <a:ext uri="{FF2B5EF4-FFF2-40B4-BE49-F238E27FC236}">
                <a16:creationId xmlns:a16="http://schemas.microsoft.com/office/drawing/2014/main" id="{83CCFAD3-A156-608D-DBFB-C5E26077D57C}"/>
              </a:ext>
            </a:extLst>
          </p:cNvPr>
          <p:cNvSpPr txBox="1"/>
          <p:nvPr/>
        </p:nvSpPr>
        <p:spPr>
          <a:xfrm>
            <a:off x="0" y="349066"/>
            <a:ext cx="12192000"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CONCLUSION</a:t>
            </a:r>
            <a:endParaRPr lang="en-IN" sz="36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4C07225-C9C0-C814-6EE2-D96270854081}"/>
              </a:ext>
            </a:extLst>
          </p:cNvPr>
          <p:cNvSpPr txBox="1"/>
          <p:nvPr/>
        </p:nvSpPr>
        <p:spPr>
          <a:xfrm>
            <a:off x="609600" y="1582993"/>
            <a:ext cx="10972800" cy="3539430"/>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This project focuses on improving communication in disaster situations where normal networks are not available. Although MANETs help in such cases, traditional AODV has problems like slow route discovery and unstable communication.</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To solve this, we used a cloud-assisted AODV approach. The cloud helps in finding better routes quickly using global network information, which reduces delay and improves communication.</a:t>
            </a:r>
          </a:p>
        </p:txBody>
      </p:sp>
    </p:spTree>
    <p:extLst>
      <p:ext uri="{BB962C8B-B14F-4D97-AF65-F5344CB8AC3E}">
        <p14:creationId xmlns:p14="http://schemas.microsoft.com/office/powerpoint/2010/main" val="26625679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6B0EC5-E95D-2E60-8223-C4D51852466A}"/>
              </a:ext>
            </a:extLst>
          </p:cNvPr>
          <p:cNvSpPr>
            <a:spLocks noGrp="1"/>
          </p:cNvSpPr>
          <p:nvPr>
            <p:ph type="dt" sz="half" idx="10"/>
          </p:nvPr>
        </p:nvSpPr>
        <p:spPr/>
        <p:txBody>
          <a:bodyPr/>
          <a:lstStyle/>
          <a:p>
            <a:fld id="{A18A7FA7-F693-4DFB-AEDA-FE633EEC95AF}" type="datetime1">
              <a:rPr lang="en-IN" smtClean="0"/>
              <a:pPr/>
              <a:t>23-03-2026</a:t>
            </a:fld>
            <a:endParaRPr lang="en-IN"/>
          </a:p>
        </p:txBody>
      </p:sp>
      <p:sp>
        <p:nvSpPr>
          <p:cNvPr id="3" name="Slide Number Placeholder 2">
            <a:extLst>
              <a:ext uri="{FF2B5EF4-FFF2-40B4-BE49-F238E27FC236}">
                <a16:creationId xmlns:a16="http://schemas.microsoft.com/office/drawing/2014/main" id="{B3731865-90CC-B214-BD43-564CDE0FD198}"/>
              </a:ext>
            </a:extLst>
          </p:cNvPr>
          <p:cNvSpPr>
            <a:spLocks noGrp="1"/>
          </p:cNvSpPr>
          <p:nvPr>
            <p:ph type="sldNum" sz="quarter" idx="12"/>
          </p:nvPr>
        </p:nvSpPr>
        <p:spPr/>
        <p:txBody>
          <a:bodyPr/>
          <a:lstStyle/>
          <a:p>
            <a:fld id="{A0183BA4-7B10-4BE3-A0B2-A48721054ED6}" type="slidenum">
              <a:rPr lang="en-IN" smtClean="0"/>
              <a:pPr/>
              <a:t>23</a:t>
            </a:fld>
            <a:endParaRPr lang="en-IN"/>
          </a:p>
        </p:txBody>
      </p:sp>
      <p:sp>
        <p:nvSpPr>
          <p:cNvPr id="4" name="TextBox 3">
            <a:extLst>
              <a:ext uri="{FF2B5EF4-FFF2-40B4-BE49-F238E27FC236}">
                <a16:creationId xmlns:a16="http://schemas.microsoft.com/office/drawing/2014/main" id="{EB24C349-680C-E89E-E337-0837DEE78AC0}"/>
              </a:ext>
            </a:extLst>
          </p:cNvPr>
          <p:cNvSpPr txBox="1"/>
          <p:nvPr/>
        </p:nvSpPr>
        <p:spPr>
          <a:xfrm>
            <a:off x="763229" y="1643319"/>
            <a:ext cx="10665542" cy="3108543"/>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The system also improves cluster stability by selecting reliable nodes, helping maintain stable communication even when nodes move frequently.</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Overall, the project provides a reliable and efficient solution for disaster communication by reducing delays, improving coordination, and ensuring smooth data transmission.</a:t>
            </a:r>
          </a:p>
        </p:txBody>
      </p:sp>
      <p:sp>
        <p:nvSpPr>
          <p:cNvPr id="5" name="TextBox 4">
            <a:extLst>
              <a:ext uri="{FF2B5EF4-FFF2-40B4-BE49-F238E27FC236}">
                <a16:creationId xmlns:a16="http://schemas.microsoft.com/office/drawing/2014/main" id="{37E7710C-1A92-93DF-3328-23ACE3FCEE92}"/>
              </a:ext>
            </a:extLst>
          </p:cNvPr>
          <p:cNvSpPr txBox="1"/>
          <p:nvPr/>
        </p:nvSpPr>
        <p:spPr>
          <a:xfrm>
            <a:off x="1887794" y="540774"/>
            <a:ext cx="8357419"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CONCLUSION</a:t>
            </a:r>
            <a:endParaRPr lang="en-IN"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55460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fld id="{D121BCBC-AF21-480F-8C1A-83C58722766A}" type="datetime1">
              <a:rPr lang="en-IN" smtClean="0"/>
              <a:pPr/>
              <a:t>23-03-2026</a:t>
            </a:fld>
            <a:endParaRPr lang="en-IN"/>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24</a:t>
            </a:fld>
            <a:endParaRPr lang="en-IN"/>
          </a:p>
        </p:txBody>
      </p:sp>
      <p:sp>
        <p:nvSpPr>
          <p:cNvPr id="3" name="TextBox 2">
            <a:extLst>
              <a:ext uri="{FF2B5EF4-FFF2-40B4-BE49-F238E27FC236}">
                <a16:creationId xmlns:a16="http://schemas.microsoft.com/office/drawing/2014/main" id="{A0C36ED6-89C9-3675-2171-D6A97A537A46}"/>
              </a:ext>
            </a:extLst>
          </p:cNvPr>
          <p:cNvSpPr txBox="1"/>
          <p:nvPr/>
        </p:nvSpPr>
        <p:spPr>
          <a:xfrm>
            <a:off x="4285860" y="2861187"/>
            <a:ext cx="4032230"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QUERIES ??</a:t>
            </a:r>
            <a:endParaRPr lang="en-IN" sz="36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262F3AAA-C510-7110-84B5-A0CB337612F5}"/>
              </a:ext>
            </a:extLst>
          </p:cNvPr>
          <p:cNvSpPr txBox="1"/>
          <p:nvPr/>
        </p:nvSpPr>
        <p:spPr>
          <a:xfrm>
            <a:off x="317241" y="1259633"/>
            <a:ext cx="11206065"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1632734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2827175"/>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THANK YOU</a:t>
            </a:r>
            <a:endParaRPr lang="en-IN"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fld id="{D121BCBC-AF21-480F-8C1A-83C58722766A}" type="datetime1">
              <a:rPr lang="en-IN" smtClean="0"/>
              <a:pPr/>
              <a:t>23-03-2026</a:t>
            </a:fld>
            <a:endParaRPr lang="en-IN" dirty="0"/>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25</a:t>
            </a:fld>
            <a:endParaRPr lang="en-IN"/>
          </a:p>
        </p:txBody>
      </p:sp>
    </p:spTree>
    <p:extLst>
      <p:ext uri="{BB962C8B-B14F-4D97-AF65-F5344CB8AC3E}">
        <p14:creationId xmlns:p14="http://schemas.microsoft.com/office/powerpoint/2010/main" val="11344110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1571</TotalTime>
  <Words>1757</Words>
  <Application>Microsoft Office PowerPoint</Application>
  <PresentationFormat>Widescreen</PresentationFormat>
  <Paragraphs>229</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Calibri Light</vt:lpstr>
      <vt:lpstr>Times New Roman</vt:lpstr>
      <vt:lpstr>Wingdings</vt:lpstr>
      <vt:lpstr>Office Theme</vt:lpstr>
      <vt:lpstr>PowerPoint Presentation</vt:lpstr>
      <vt:lpstr>OUTLINE </vt:lpstr>
      <vt:lpstr>PowerPoint Presentation</vt:lpstr>
      <vt:lpstr>Cloud Assisted Fast Route Discovery in AODV For Disaster Rescue Cluster Stability</vt:lpstr>
      <vt:lpstr>ABSTRACT</vt:lpstr>
      <vt:lpstr>INTRODUCTION</vt:lpstr>
      <vt:lpstr>INTRODUCTION</vt:lpstr>
      <vt:lpstr>LITERATURE SURVEY</vt:lpstr>
      <vt:lpstr>PowerPoint Presentation</vt:lpstr>
      <vt:lpstr>                      EXISTING SYSTEM</vt:lpstr>
      <vt:lpstr>    PROPOSED SYSTEM</vt:lpstr>
      <vt:lpstr>MODULE SPLIT-UP </vt:lpstr>
      <vt:lpstr>PROGRESS ON DESIGN</vt:lpstr>
      <vt:lpstr>PowerPoint Presentation</vt:lpstr>
      <vt:lpstr>PowerPoint Presentation</vt:lpstr>
      <vt:lpstr>PowerPoint Presentation</vt:lpstr>
      <vt:lpstr>PowerPoint Presentation</vt:lpstr>
      <vt:lpstr>ANALYSIS AND EXPERIMENTAL WORK</vt:lpstr>
      <vt:lpstr>PROTOTYPE</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Pravallika Reddy</dc:creator>
  <cp:lastModifiedBy>Miryala Ankitha</cp:lastModifiedBy>
  <cp:revision>114</cp:revision>
  <dcterms:created xsi:type="dcterms:W3CDTF">2021-05-18T14:01:25Z</dcterms:created>
  <dcterms:modified xsi:type="dcterms:W3CDTF">2026-03-23T12:16:47Z</dcterms:modified>
</cp:coreProperties>
</file>